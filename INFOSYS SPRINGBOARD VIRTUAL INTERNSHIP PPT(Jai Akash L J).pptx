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4"/>
  </p:sldMasterIdLst>
  <p:notesMasterIdLst>
    <p:notesMasterId r:id="rId16"/>
  </p:notesMasterIdLst>
  <p:handoutMasterIdLst>
    <p:handoutMasterId r:id="rId17"/>
  </p:handoutMasterIdLst>
  <p:sldIdLst>
    <p:sldId id="323" r:id="rId5"/>
    <p:sldId id="324" r:id="rId6"/>
    <p:sldId id="325" r:id="rId7"/>
    <p:sldId id="328" r:id="rId8"/>
    <p:sldId id="329" r:id="rId9"/>
    <p:sldId id="311" r:id="rId10"/>
    <p:sldId id="314" r:id="rId11"/>
    <p:sldId id="313" r:id="rId12"/>
    <p:sldId id="317" r:id="rId13"/>
    <p:sldId id="318" r:id="rId14"/>
    <p:sldId id="31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741" autoAdjust="0"/>
  </p:normalViewPr>
  <p:slideViewPr>
    <p:cSldViewPr snapToGrid="0">
      <p:cViewPr varScale="1">
        <p:scale>
          <a:sx n="98" d="100"/>
          <a:sy n="98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C669D0-F8F9-909F-F36A-221EAC7424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1AC27-49A0-3B4C-5F49-D6641499EF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F45D-55D9-47BA-9640-E7EB1024F606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AD1BD-C6AD-D1DF-596E-659165024C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659A-33FC-973A-2DD5-89A959CA8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A2DCA-E9F6-4345-9316-BF42F09A2C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691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9C6F8-5F98-E04A-B725-72D1A5FE8444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A9608-B288-5444-9C81-49B56A597B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7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64955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5562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4391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862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5036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3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0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0218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7923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665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016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687967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389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42764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2439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9189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4757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1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65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344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352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507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41702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95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591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83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931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7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49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  <p:sldLayoutId id="2147483922" r:id="rId18"/>
    <p:sldLayoutId id="2147483923" r:id="rId19"/>
    <p:sldLayoutId id="2147483924" r:id="rId20"/>
    <p:sldLayoutId id="2147483925" r:id="rId21"/>
    <p:sldLayoutId id="2147483926" r:id="rId22"/>
    <p:sldLayoutId id="2147483927" r:id="rId23"/>
    <p:sldLayoutId id="2147483836" r:id="rId24"/>
    <p:sldLayoutId id="2147483649" r:id="rId25"/>
    <p:sldLayoutId id="2147483666" r:id="rId26"/>
    <p:sldLayoutId id="2147483669" r:id="rId27"/>
    <p:sldLayoutId id="2147483670" r:id="rId28"/>
    <p:sldLayoutId id="2147483671" r:id="rId2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438F-88A8-5C12-3E5C-EDC250BE6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Infosys Springboard</a:t>
            </a:r>
            <a:br>
              <a:rPr lang="en-US" dirty="0"/>
            </a:br>
            <a:r>
              <a:rPr lang="en-US" b="1" dirty="0"/>
              <a:t>Virtual Internship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51FC3-72F3-0FD2-17DB-C2D71DFA06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b="1" dirty="0"/>
              <a:t>Project Name:</a:t>
            </a:r>
            <a:r>
              <a:rPr lang="en-IN" dirty="0"/>
              <a:t> Food Trends Understanding Customer Preferences</a:t>
            </a:r>
          </a:p>
          <a:p>
            <a:r>
              <a:rPr lang="en-IN" b="1" dirty="0"/>
              <a:t>Group ID:</a:t>
            </a:r>
            <a:r>
              <a:rPr lang="en-IN" dirty="0"/>
              <a:t> Team A, Group 1, Batch-11</a:t>
            </a:r>
          </a:p>
          <a:p>
            <a:r>
              <a:rPr lang="en-IN" b="1" dirty="0"/>
              <a:t>Mentor</a:t>
            </a:r>
            <a:r>
              <a:rPr lang="en-IN" dirty="0"/>
              <a:t>: </a:t>
            </a:r>
            <a:r>
              <a:rPr lang="en-IN" dirty="0" err="1"/>
              <a:t>Ms.Nityasree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551F3-6419-A4EF-8D99-06C12A7BC9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2CDEB-9EF6-95F6-22D7-BE5ED335152F}"/>
              </a:ext>
            </a:extLst>
          </p:cNvPr>
          <p:cNvSpPr txBox="1"/>
          <p:nvPr/>
        </p:nvSpPr>
        <p:spPr>
          <a:xfrm>
            <a:off x="397618" y="5036274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TEAM MEMBERS:</a:t>
            </a:r>
          </a:p>
          <a:p>
            <a:r>
              <a:rPr lang="en-US" dirty="0">
                <a:solidFill>
                  <a:schemeClr val="bg2"/>
                </a:solidFill>
              </a:rPr>
              <a:t>Jai Akash L J</a:t>
            </a:r>
            <a:br>
              <a:rPr lang="en-US" b="1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Abhinit Kumar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Lekhana S.R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Harshini Ganesan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43D02-0273-9C8D-F3B9-0AD8A815A751}"/>
              </a:ext>
            </a:extLst>
          </p:cNvPr>
          <p:cNvSpPr txBox="1"/>
          <p:nvPr/>
        </p:nvSpPr>
        <p:spPr>
          <a:xfrm>
            <a:off x="1721955" y="3244334"/>
            <a:ext cx="698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24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33339-7B43-EAF5-73D8-C9F8A403CFD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7A96C-AB13-EC6C-B24F-7C2046654ACA}"/>
              </a:ext>
            </a:extLst>
          </p:cNvPr>
          <p:cNvSpPr txBox="1"/>
          <p:nvPr/>
        </p:nvSpPr>
        <p:spPr>
          <a:xfrm>
            <a:off x="494471" y="2524388"/>
            <a:ext cx="91845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Dominant Platforms:</a:t>
            </a:r>
            <a:r>
              <a:rPr lang="en-US" sz="2000" dirty="0">
                <a:solidFill>
                  <a:schemeClr val="bg1"/>
                </a:solidFill>
              </a:rPr>
              <a:t> Identifying key ordering platforms utilized by customers.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Customer Preferences:</a:t>
            </a:r>
            <a:r>
              <a:rPr lang="en-US" sz="2000" dirty="0">
                <a:solidFill>
                  <a:schemeClr val="bg1"/>
                </a:solidFill>
              </a:rPr>
              <a:t> Analyzing food choices, dietary patterns, and preference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Delivery Experience:</a:t>
            </a:r>
            <a:r>
              <a:rPr lang="en-US" sz="2000" dirty="0">
                <a:solidFill>
                  <a:schemeClr val="bg1"/>
                </a:solidFill>
              </a:rPr>
              <a:t> Evaluating service satisfaction, wait time, and delivery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Data-Driven Decisions:</a:t>
            </a:r>
            <a:r>
              <a:rPr lang="en-US" sz="2000" dirty="0">
                <a:solidFill>
                  <a:schemeClr val="bg1"/>
                </a:solidFill>
              </a:rPr>
              <a:t> Supporting insights for informed and strategic decision-making.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47CD7-01E0-701A-BAC2-B4A51013624D}"/>
              </a:ext>
            </a:extLst>
          </p:cNvPr>
          <p:cNvSpPr txBox="1"/>
          <p:nvPr/>
        </p:nvSpPr>
        <p:spPr>
          <a:xfrm>
            <a:off x="379757" y="476285"/>
            <a:ext cx="114324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Title:</a:t>
            </a:r>
            <a:r>
              <a:rPr lang="en-IN" sz="5400" dirty="0">
                <a:solidFill>
                  <a:schemeClr val="bg1"/>
                </a:solidFill>
              </a:rPr>
              <a:t> Food Trends Understanding Customer Preferences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1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B1E4B-EA6E-923A-2B11-4D09ACDED1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8E7DD-1297-90FA-70E8-CDBF302A32A2}"/>
              </a:ext>
            </a:extLst>
          </p:cNvPr>
          <p:cNvSpPr txBox="1"/>
          <p:nvPr/>
        </p:nvSpPr>
        <p:spPr>
          <a:xfrm>
            <a:off x="1674823" y="392781"/>
            <a:ext cx="8684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Project execution and milestones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8B296-09FE-BCC7-798C-88DA9F1A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986" y="1484577"/>
            <a:ext cx="2458349" cy="2251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AE9BC6-EF21-B18C-96B8-7C1F6112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75" y="1484577"/>
            <a:ext cx="2458349" cy="2251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66CAB2-22DC-6534-A31E-06DCAB648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453" y="1484577"/>
            <a:ext cx="2458349" cy="22518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D61055-62B6-E332-95AF-3AA7745E96E8}"/>
              </a:ext>
            </a:extLst>
          </p:cNvPr>
          <p:cNvSpPr txBox="1"/>
          <p:nvPr/>
        </p:nvSpPr>
        <p:spPr>
          <a:xfrm>
            <a:off x="894218" y="4378146"/>
            <a:ext cx="5975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Dataset used: The dataset used for this project was sourced from Kaggle and contains structured food &amp; beverage customer data, including food preferences, ordering behavior, and service-related attributes.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BF2BD9-2E7C-CFBA-FFD4-B10AFDBDA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3" y="4031230"/>
            <a:ext cx="2458349" cy="22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1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ADAA5-D755-17FC-D1EA-AF06778DB0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74773-5213-3F46-ABDE-A8BD842A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7950"/>
            <a:ext cx="5718314" cy="2732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261866-4124-1FCA-575A-0855F9A2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62" y="3309372"/>
            <a:ext cx="5512904" cy="3140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A2139-1B52-76FB-5F31-9FD5AEBEE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309372"/>
            <a:ext cx="5718314" cy="31406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43E287-6388-E6B9-30DF-8A92E1CF8C85}"/>
              </a:ext>
            </a:extLst>
          </p:cNvPr>
          <p:cNvSpPr txBox="1"/>
          <p:nvPr/>
        </p:nvSpPr>
        <p:spPr>
          <a:xfrm>
            <a:off x="447262" y="804861"/>
            <a:ext cx="53340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DASHBOARDS</a:t>
            </a:r>
          </a:p>
          <a:p>
            <a:r>
              <a:rPr lang="en-US" sz="6000" b="1" dirty="0">
                <a:solidFill>
                  <a:schemeClr val="bg1"/>
                </a:solidFill>
              </a:rPr>
              <a:t>Page 1-7:</a:t>
            </a:r>
          </a:p>
        </p:txBody>
      </p:sp>
    </p:spTree>
    <p:extLst>
      <p:ext uri="{BB962C8B-B14F-4D97-AF65-F5344CB8AC3E}">
        <p14:creationId xmlns:p14="http://schemas.microsoft.com/office/powerpoint/2010/main" val="284741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6E6C6-E8E7-DB6E-05C2-FF2E0A55B6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91242-3ADC-EA55-67BC-D8A0E27C1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17" y="3269975"/>
            <a:ext cx="5512904" cy="308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9E75DB-0083-6BD6-7CA1-0BEAA6FEA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16" y="327993"/>
            <a:ext cx="5512904" cy="2828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B3712C-FDF1-4106-1B02-07664BD85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7994"/>
            <a:ext cx="5701748" cy="2828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C911-9DD2-6BD4-EDC0-691244494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269975"/>
            <a:ext cx="5701748" cy="31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9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62A93-B05D-F902-E82F-647AA5B89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90D42-0C80-F79C-720F-65248F6FFB19}"/>
              </a:ext>
            </a:extLst>
          </p:cNvPr>
          <p:cNvSpPr txBox="1"/>
          <p:nvPr/>
        </p:nvSpPr>
        <p:spPr>
          <a:xfrm>
            <a:off x="703193" y="387700"/>
            <a:ext cx="5270224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Challenges Faced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Power BI Service</a:t>
            </a:r>
            <a:r>
              <a:rPr lang="en-US" dirty="0">
                <a:solidFill>
                  <a:schemeClr val="bg1"/>
                </a:solidFill>
              </a:rPr>
              <a:t> does not support true </a:t>
            </a:r>
            <a:r>
              <a:rPr lang="en-US" b="1" dirty="0">
                <a:solidFill>
                  <a:schemeClr val="bg1"/>
                </a:solidFill>
              </a:rPr>
              <a:t>parallel dashboard editing</a:t>
            </a:r>
            <a:r>
              <a:rPr lang="en-US" dirty="0">
                <a:solidFill>
                  <a:schemeClr val="bg1"/>
                </a:solidFill>
              </a:rPr>
              <a:t>, making simultaneous team collaboration difficult.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update required publishing changes and pulling the latest version from the cloud.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During </a:t>
            </a:r>
            <a:r>
              <a:rPr lang="en-US" b="1" dirty="0">
                <a:solidFill>
                  <a:schemeClr val="bg1"/>
                </a:solidFill>
              </a:rPr>
              <a:t>data preprocessing</a:t>
            </a:r>
            <a:r>
              <a:rPr lang="en-US" dirty="0">
                <a:solidFill>
                  <a:schemeClr val="bg1"/>
                </a:solidFill>
              </a:rPr>
              <a:t>, a </a:t>
            </a:r>
            <a:r>
              <a:rPr lang="en-US" b="1" dirty="0">
                <a:solidFill>
                  <a:schemeClr val="bg1"/>
                </a:solidFill>
              </a:rPr>
              <a:t>column was accidentally deleted</a:t>
            </a:r>
            <a:r>
              <a:rPr lang="en-US" dirty="0">
                <a:solidFill>
                  <a:schemeClr val="bg1"/>
                </a:solidFill>
              </a:rPr>
              <a:t> and went unnoticed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issue was identified only after progressing further in the analysis, affecting data consistency and visuals.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E7035-491F-EC08-4EF1-5E75A039A5AA}"/>
              </a:ext>
            </a:extLst>
          </p:cNvPr>
          <p:cNvSpPr txBox="1"/>
          <p:nvPr/>
        </p:nvSpPr>
        <p:spPr>
          <a:xfrm>
            <a:off x="5973417" y="1802596"/>
            <a:ext cx="6097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Resolution &amp; Learnings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Adopted a </a:t>
            </a:r>
            <a:r>
              <a:rPr lang="en-US" b="1" dirty="0">
                <a:solidFill>
                  <a:schemeClr val="bg1"/>
                </a:solidFill>
              </a:rPr>
              <a:t>sequential editing workflow</a:t>
            </a:r>
            <a:r>
              <a:rPr lang="en-US" dirty="0">
                <a:solidFill>
                  <a:schemeClr val="bg1"/>
                </a:solidFill>
              </a:rPr>
              <a:t> for Power BI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Assigned clear responsibility for report updates to avoid conflicts.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Recovered the deleted column by </a:t>
            </a:r>
            <a:r>
              <a:rPr lang="en-US" b="1" dirty="0">
                <a:solidFill>
                  <a:schemeClr val="bg1"/>
                </a:solidFill>
              </a:rPr>
              <a:t>copying and matching it from the original dataset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Revalidated preprocessing steps, relationships, and visuals after recovery.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Reinforced the importance of </a:t>
            </a:r>
            <a:r>
              <a:rPr lang="en-US" b="1" dirty="0">
                <a:solidFill>
                  <a:schemeClr val="bg1"/>
                </a:solidFill>
              </a:rPr>
              <a:t>validation checks during data preprocessing</a:t>
            </a:r>
            <a:r>
              <a:rPr lang="en-US" dirty="0">
                <a:solidFill>
                  <a:schemeClr val="bg1"/>
                </a:solidFill>
              </a:rPr>
              <a:t> in Power BI.</a:t>
            </a:r>
          </a:p>
        </p:txBody>
      </p:sp>
    </p:spTree>
    <p:extLst>
      <p:ext uri="{BB962C8B-B14F-4D97-AF65-F5344CB8AC3E}">
        <p14:creationId xmlns:p14="http://schemas.microsoft.com/office/powerpoint/2010/main" val="4055295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232BDC-58BE-5669-7C02-6227C42B53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E855A-C527-E995-0B2E-F959D6D72D7A}"/>
              </a:ext>
            </a:extLst>
          </p:cNvPr>
          <p:cNvSpPr txBox="1"/>
          <p:nvPr/>
        </p:nvSpPr>
        <p:spPr>
          <a:xfrm>
            <a:off x="513561" y="1724085"/>
            <a:ext cx="41946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Tools &amp; Technologies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Power BI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Designed interactive dashboards for customer behavior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a consolidated dataset to generate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Applied slicers and filters (City, Gender, Monthly Income) for dynamic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Created clear and intuitive reports to support data-driven decisions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Microsoft Excel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Used for data entry, cleaning, and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Performed sorting, filtering, and consistency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Analyzed dataset structure before importing into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BAA77-9600-F49E-E33B-0C7F6140094F}"/>
              </a:ext>
            </a:extLst>
          </p:cNvPr>
          <p:cNvSpPr txBox="1"/>
          <p:nvPr/>
        </p:nvSpPr>
        <p:spPr>
          <a:xfrm>
            <a:off x="5107021" y="382012"/>
            <a:ext cx="61089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Data Analytics &amp; Visualization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Interactive Dashboards:</a:t>
            </a:r>
            <a:r>
              <a:rPr lang="en-US" sz="1600" dirty="0">
                <a:solidFill>
                  <a:schemeClr val="bg1"/>
                </a:solidFill>
              </a:rPr>
              <a:t> Cross-filtering and user-driven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DAX (Basics):</a:t>
            </a:r>
            <a:r>
              <a:rPr lang="en-US" sz="1600" dirty="0">
                <a:solidFill>
                  <a:schemeClr val="bg1"/>
                </a:solidFill>
              </a:rPr>
              <a:t> Built measures using 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</a:rPr>
              <a:t>AVERAGE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chemeClr val="bg1"/>
                </a:solidFill>
              </a:rPr>
              <a:t> for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Visual Analytics: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Bar charts for cuisine preference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Column charts for behavioral comparison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KPI cards to highlight key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Data Transformation:</a:t>
            </a:r>
            <a:endParaRPr lang="en-US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and prepared data using Power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Handled missing values and corrected data types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18B10-0105-67F5-DED6-9A6438BF5F43}"/>
              </a:ext>
            </a:extLst>
          </p:cNvPr>
          <p:cNvSpPr txBox="1"/>
          <p:nvPr/>
        </p:nvSpPr>
        <p:spPr>
          <a:xfrm>
            <a:off x="5107021" y="3534570"/>
            <a:ext cx="61089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</a:rPr>
              <a:t>Soft Skills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Analytical Thinking:</a:t>
            </a:r>
            <a:r>
              <a:rPr lang="en-US" sz="1600" dirty="0">
                <a:solidFill>
                  <a:schemeClr val="bg1"/>
                </a:solidFill>
              </a:rPr>
              <a:t> Interpreted visual trends to derive meaningful insights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Attention to Detail:</a:t>
            </a:r>
            <a:r>
              <a:rPr lang="en-US" sz="1600" dirty="0">
                <a:solidFill>
                  <a:schemeClr val="bg1"/>
                </a:solidFill>
              </a:rPr>
              <a:t> Ensured data accuracy during cleaning and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Problem Structuring:</a:t>
            </a:r>
            <a:r>
              <a:rPr lang="en-US" sz="1600" dirty="0">
                <a:solidFill>
                  <a:schemeClr val="bg1"/>
                </a:solidFill>
              </a:rPr>
              <a:t> Broke down business questions into measurable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Presentation Clarity:</a:t>
            </a:r>
            <a:r>
              <a:rPr lang="en-US" sz="1600" dirty="0">
                <a:solidFill>
                  <a:schemeClr val="bg1"/>
                </a:solidFill>
              </a:rPr>
              <a:t> Organized dashboards for easy interpretation by 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Iterative Improvement:</a:t>
            </a:r>
            <a:r>
              <a:rPr lang="en-US" sz="1600" dirty="0">
                <a:solidFill>
                  <a:schemeClr val="bg1"/>
                </a:solidFill>
              </a:rPr>
              <a:t> Refined dashboards based on feedback and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0DD59-35F1-0743-65B4-C4242D65991A}"/>
              </a:ext>
            </a:extLst>
          </p:cNvPr>
          <p:cNvSpPr txBox="1"/>
          <p:nvPr/>
        </p:nvSpPr>
        <p:spPr>
          <a:xfrm>
            <a:off x="432880" y="194553"/>
            <a:ext cx="46109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Learnings and skills used</a:t>
            </a:r>
          </a:p>
        </p:txBody>
      </p:sp>
    </p:spTree>
    <p:extLst>
      <p:ext uri="{BB962C8B-B14F-4D97-AF65-F5344CB8AC3E}">
        <p14:creationId xmlns:p14="http://schemas.microsoft.com/office/powerpoint/2010/main" val="376961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DA9D2C-79E5-25CF-E4A6-2AA9C1BE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0031" y="1189100"/>
            <a:ext cx="4450787" cy="999535"/>
          </a:xfrm>
        </p:spPr>
        <p:txBody>
          <a:bodyPr>
            <a:normAutofit/>
          </a:bodyPr>
          <a:lstStyle/>
          <a:p>
            <a:r>
              <a:rPr lang="en-US" sz="4400" i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2F5D22-6C73-5967-E35C-917445CF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170CC-2D8B-FE67-6306-E13E72F38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254" y="2671359"/>
            <a:ext cx="55771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Lunch and snack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hours experience the highest customer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Food quality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has a strong influence on customer purchase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Faster delivery times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are associated with higher customer satisfaction and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Affordability plays a major role in influencing orders, particularly among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students and low-income customers.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DE9CB-1897-D617-12D1-137487AED6FE}"/>
              </a:ext>
            </a:extLst>
          </p:cNvPr>
          <p:cNvSpPr txBox="1"/>
          <p:nvPr/>
        </p:nvSpPr>
        <p:spPr>
          <a:xfrm>
            <a:off x="464654" y="836665"/>
            <a:ext cx="563134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i="1" dirty="0">
                <a:solidFill>
                  <a:schemeClr val="bg1"/>
                </a:solidFill>
              </a:rPr>
              <a:t>Future Enhancements</a:t>
            </a: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 </a:t>
            </a:r>
            <a:r>
              <a:rPr lang="en-US" b="1" dirty="0">
                <a:solidFill>
                  <a:schemeClr val="bg1"/>
                </a:solidFill>
              </a:rPr>
              <a:t>predictive analytics</a:t>
            </a:r>
            <a:r>
              <a:rPr lang="en-US" dirty="0">
                <a:solidFill>
                  <a:schemeClr val="bg1"/>
                </a:solidFill>
              </a:rPr>
              <a:t> to forecast customer demand and peak ordering periods.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Integrate </a:t>
            </a:r>
            <a:r>
              <a:rPr lang="en-US" b="1" dirty="0">
                <a:solidFill>
                  <a:schemeClr val="bg1"/>
                </a:solidFill>
              </a:rPr>
              <a:t>real-time or regularly refreshed data</a:t>
            </a:r>
            <a:r>
              <a:rPr lang="en-US" dirty="0">
                <a:solidFill>
                  <a:schemeClr val="bg1"/>
                </a:solidFill>
              </a:rPr>
              <a:t> to keep dashboards up to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 </a:t>
            </a:r>
            <a:r>
              <a:rPr lang="en-US" b="1" dirty="0">
                <a:solidFill>
                  <a:schemeClr val="bg1"/>
                </a:solidFill>
              </a:rPr>
              <a:t>advanced customer segmentation</a:t>
            </a:r>
            <a:r>
              <a:rPr lang="en-US" dirty="0">
                <a:solidFill>
                  <a:schemeClr val="bg1"/>
                </a:solidFill>
              </a:rPr>
              <a:t> based on ordering behavior and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Expand the dataset to include </a:t>
            </a:r>
            <a:r>
              <a:rPr lang="en-US" b="1" dirty="0">
                <a:solidFill>
                  <a:schemeClr val="bg1"/>
                </a:solidFill>
              </a:rPr>
              <a:t>longer time periods</a:t>
            </a:r>
            <a:r>
              <a:rPr lang="en-US" dirty="0">
                <a:solidFill>
                  <a:schemeClr val="bg1"/>
                </a:solidFill>
              </a:rPr>
              <a:t> for trend and seasonal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Incorporate </a:t>
            </a:r>
            <a:r>
              <a:rPr lang="en-US" b="1" dirty="0">
                <a:solidFill>
                  <a:schemeClr val="bg1"/>
                </a:solidFill>
              </a:rPr>
              <a:t>automated data validation checks</a:t>
            </a:r>
            <a:r>
              <a:rPr lang="en-US" dirty="0">
                <a:solidFill>
                  <a:schemeClr val="bg1"/>
                </a:solidFill>
              </a:rPr>
              <a:t> during preprocessing to reduce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Apply </a:t>
            </a:r>
            <a:r>
              <a:rPr lang="en-US" b="1" dirty="0">
                <a:solidFill>
                  <a:schemeClr val="bg1"/>
                </a:solidFill>
              </a:rPr>
              <a:t>machine learning–based customer segmentation</a:t>
            </a:r>
            <a:r>
              <a:rPr lang="en-US" dirty="0">
                <a:solidFill>
                  <a:schemeClr val="bg1"/>
                </a:solidFill>
              </a:rPr>
              <a:t> (clustering) to group customers by ordering behavior and preferences.</a:t>
            </a:r>
          </a:p>
        </p:txBody>
      </p:sp>
    </p:spTree>
    <p:extLst>
      <p:ext uri="{BB962C8B-B14F-4D97-AF65-F5344CB8AC3E}">
        <p14:creationId xmlns:p14="http://schemas.microsoft.com/office/powerpoint/2010/main" val="10093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F514E-E495-C386-76F2-6E131750A448}"/>
              </a:ext>
            </a:extLst>
          </p:cNvPr>
          <p:cNvSpPr txBox="1"/>
          <p:nvPr/>
        </p:nvSpPr>
        <p:spPr>
          <a:xfrm>
            <a:off x="735496" y="871676"/>
            <a:ext cx="909430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Conclusion</a:t>
            </a:r>
          </a:p>
          <a:p>
            <a:pPr>
              <a:buNone/>
            </a:pPr>
            <a:endParaRPr lang="en-US" sz="4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project successfully analyzed customer ordering </a:t>
            </a:r>
            <a:r>
              <a:rPr lang="en-US" dirty="0" err="1">
                <a:solidFill>
                  <a:schemeClr val="bg1"/>
                </a:solidFill>
              </a:rPr>
              <a:t>behaviour</a:t>
            </a:r>
            <a:r>
              <a:rPr lang="en-US" dirty="0">
                <a:solidFill>
                  <a:schemeClr val="bg1"/>
                </a:solidFill>
              </a:rPr>
              <a:t> and food preferences using </a:t>
            </a:r>
            <a:r>
              <a:rPr lang="en-US" b="1" dirty="0">
                <a:solidFill>
                  <a:schemeClr val="bg1"/>
                </a:solidFill>
              </a:rPr>
              <a:t>Power BI dashboards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analysis transformed raw data into </a:t>
            </a:r>
            <a:r>
              <a:rPr lang="en-US" b="1" dirty="0">
                <a:solidFill>
                  <a:schemeClr val="bg1"/>
                </a:solidFill>
              </a:rPr>
              <a:t>meaningful and actionable insights</a:t>
            </a:r>
            <a:r>
              <a:rPr lang="en-US" dirty="0">
                <a:solidFill>
                  <a:schemeClr val="bg1"/>
                </a:solidFill>
              </a:rPr>
              <a:t> through effective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Key patterns related to ordering platforms, time preferences, and quality expectations were clearly identified.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Challenges faced during </a:t>
            </a:r>
            <a:r>
              <a:rPr lang="en-US" b="1" dirty="0">
                <a:solidFill>
                  <a:schemeClr val="bg1"/>
                </a:solidFill>
              </a:rPr>
              <a:t>team collaboration and data preprocessing</a:t>
            </a:r>
            <a:r>
              <a:rPr lang="en-US" dirty="0">
                <a:solidFill>
                  <a:schemeClr val="bg1"/>
                </a:solidFill>
              </a:rPr>
              <a:t> were resolved using structured workflows and validation checks.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project demonstrated the </a:t>
            </a:r>
            <a:r>
              <a:rPr lang="en-US" b="1" dirty="0">
                <a:solidFill>
                  <a:schemeClr val="bg1"/>
                </a:solidFill>
              </a:rPr>
              <a:t>practical application of data analytics concepts</a:t>
            </a:r>
            <a:r>
              <a:rPr lang="en-US" dirty="0">
                <a:solidFill>
                  <a:schemeClr val="bg1"/>
                </a:solidFill>
              </a:rPr>
              <a:t> in a real-world scenario.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strengthened understanding of the </a:t>
            </a:r>
            <a:r>
              <a:rPr lang="en-US" b="1" dirty="0">
                <a:solidFill>
                  <a:schemeClr val="bg1"/>
                </a:solidFill>
              </a:rPr>
              <a:t>end-to-end analytics lifecycle</a:t>
            </a:r>
            <a:r>
              <a:rPr lang="en-US" dirty="0">
                <a:solidFill>
                  <a:schemeClr val="bg1"/>
                </a:solidFill>
              </a:rPr>
              <a:t>, from data preprocessing to insight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project also highlighted the importance of </a:t>
            </a:r>
            <a:r>
              <a:rPr lang="en-US" b="1" dirty="0">
                <a:solidFill>
                  <a:schemeClr val="bg1"/>
                </a:solidFill>
              </a:rPr>
              <a:t>collaboration, version control, and data accuracy</a:t>
            </a:r>
            <a:r>
              <a:rPr lang="en-US" dirty="0">
                <a:solidFill>
                  <a:schemeClr val="bg1"/>
                </a:solidFill>
              </a:rPr>
              <a:t> when working with enterprise analytics tools.</a:t>
            </a: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DA292-2DDD-FBBA-7845-3B181E43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635" y="325455"/>
            <a:ext cx="4678975" cy="3545380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References</a:t>
            </a:r>
          </a:p>
          <a:p>
            <a:r>
              <a:rPr lang="en-US" dirty="0">
                <a:solidFill>
                  <a:schemeClr val="bg1"/>
                </a:solidFill>
              </a:rPr>
              <a:t>Microsoft Power BI Documentation. </a:t>
            </a:r>
          </a:p>
          <a:p>
            <a:r>
              <a:rPr lang="en-US" dirty="0">
                <a:solidFill>
                  <a:schemeClr val="bg1"/>
                </a:solidFill>
              </a:rPr>
              <a:t>Infosys Springboard Virtual Internship course materials.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B1359-DE2C-2BC6-174D-B7C0DB1F607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76023" y="849337"/>
            <a:ext cx="5499356" cy="45173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Acknowledgement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We would like to express our heartfelt gratitude to: Infosys Springboard Team– for organizing this valuable internship opportunity.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Our Mentor– for her continuous support and feedback.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My Teammates – for collaboration, encouragement, and insights.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This internship has been a significant step in our professional growth and technical journey.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D425-ACCD-D8C2-7544-51EDA05C8F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72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AB1C8-4A29-D350-B7C4-3089C13BF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6" name="Picture Placeholder 5" descr="A table and chairs in a room">
            <a:extLst>
              <a:ext uri="{FF2B5EF4-FFF2-40B4-BE49-F238E27FC236}">
                <a16:creationId xmlns:a16="http://schemas.microsoft.com/office/drawing/2014/main" id="{30452C6F-947C-89F5-F589-F6759321BB8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" r="35"/>
          <a:stretch/>
        </p:blipFill>
        <p:spPr/>
      </p:pic>
    </p:spTree>
    <p:extLst>
      <p:ext uri="{BB962C8B-B14F-4D97-AF65-F5344CB8AC3E}">
        <p14:creationId xmlns:p14="http://schemas.microsoft.com/office/powerpoint/2010/main" val="176829385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95BEDACB072D47917843A21F000026" ma:contentTypeVersion="6" ma:contentTypeDescription="Create a new document." ma:contentTypeScope="" ma:versionID="c130d8315742932e820d55ae1f2fa3f1">
  <xsd:schema xmlns:xsd="http://www.w3.org/2001/XMLSchema" xmlns:xs="http://www.w3.org/2001/XMLSchema" xmlns:p="http://schemas.microsoft.com/office/2006/metadata/properties" xmlns:ns3="a43d223e-0b7b-4dcd-965e-6eb16c49ec2e" targetNamespace="http://schemas.microsoft.com/office/2006/metadata/properties" ma:root="true" ma:fieldsID="112504c6e146bfe2c4376a042e736e2b" ns3:_="">
    <xsd:import namespace="a43d223e-0b7b-4dcd-965e-6eb16c49ec2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3d223e-0b7b-4dcd-965e-6eb16c49ec2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3d223e-0b7b-4dcd-965e-6eb16c49ec2e" xsi:nil="true"/>
  </documentManagement>
</p:properties>
</file>

<file path=customXml/itemProps1.xml><?xml version="1.0" encoding="utf-8"?>
<ds:datastoreItem xmlns:ds="http://schemas.openxmlformats.org/officeDocument/2006/customXml" ds:itemID="{7A6AD6DB-9470-4861-90FA-528B22606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9906C3-FC2F-437B-966B-FB5AE3587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3d223e-0b7b-4dcd-965e-6eb16c49ec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4A2E04-D8A3-4CD6-A49A-4E88613CFB20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a43d223e-0b7b-4dcd-965e-6eb16c49ec2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290</TotalTime>
  <Words>794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Courier New</vt:lpstr>
      <vt:lpstr>Wingdings</vt:lpstr>
      <vt:lpstr>Wingdings 3</vt:lpstr>
      <vt:lpstr>Slice</vt:lpstr>
      <vt:lpstr>Infosys Springboard Virtual Internship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L.J.Jai Akash</dc:creator>
  <cp:lastModifiedBy>L.J.Jai Akash</cp:lastModifiedBy>
  <cp:revision>12</cp:revision>
  <dcterms:created xsi:type="dcterms:W3CDTF">2026-02-07T09:44:15Z</dcterms:created>
  <dcterms:modified xsi:type="dcterms:W3CDTF">2026-02-10T04:11:59Z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0x0101008095BEDACB072D47917843A21F000026</vt:lpwstr>
  </property>
</Properties>
</file>