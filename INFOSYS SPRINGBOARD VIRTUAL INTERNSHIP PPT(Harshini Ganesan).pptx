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9" autoAdjust="0"/>
    <p:restoredTop sz="94660"/>
  </p:normalViewPr>
  <p:slideViewPr>
    <p:cSldViewPr snapToGrid="0">
      <p:cViewPr varScale="1">
        <p:scale>
          <a:sx n="75" d="100"/>
          <a:sy n="75" d="100"/>
        </p:scale>
        <p:origin x="90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2085502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4152733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4244335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FE63E-E929-4A31-ACF6-EE2FF58D8A40}"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78131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FE63E-E929-4A31-ACF6-EE2FF58D8A40}" type="datetimeFigureOut">
              <a:rPr lang="en-IN" smtClean="0"/>
              <a:t>07-02-2026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113539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FE63E-E929-4A31-ACF6-EE2FF58D8A40}" type="datetimeFigureOut">
              <a:rPr lang="en-IN" smtClean="0"/>
              <a:t>07-02-2026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794575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FE63E-E929-4A31-ACF6-EE2FF58D8A40}" type="datetimeFigureOut">
              <a:rPr lang="en-IN" smtClean="0"/>
              <a:t>07-02-2026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646745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FE63E-E929-4A31-ACF6-EE2FF58D8A40}"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4069306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FE63E-E929-4A31-ACF6-EE2FF58D8A40}"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1857825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1257490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62352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980626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10380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3549041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41969919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FE63E-E929-4A31-ACF6-EE2FF58D8A40}"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EFF40-9CEE-4EDF-B673-AC9E33406380}" type="slidenum">
              <a:rPr lang="en-IN" smtClean="0"/>
              <a:t>‹#›</a:t>
            </a:fld>
            <a:endParaRPr lang="en-IN"/>
          </a:p>
        </p:txBody>
      </p:sp>
    </p:spTree>
    <p:extLst>
      <p:ext uri="{BB962C8B-B14F-4D97-AF65-F5344CB8AC3E}">
        <p14:creationId xmlns:p14="http://schemas.microsoft.com/office/powerpoint/2010/main" val="3887017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3AFE63E-E929-4A31-ACF6-EE2FF58D8A40}" type="datetimeFigureOut">
              <a:rPr lang="en-IN" smtClean="0"/>
              <a:t>07-02-2026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0DEFF40-9CEE-4EDF-B673-AC9E33406380}" type="slidenum">
              <a:rPr lang="en-IN" smtClean="0"/>
              <a:t>‹#›</a:t>
            </a:fld>
            <a:endParaRPr lang="en-IN"/>
          </a:p>
        </p:txBody>
      </p:sp>
    </p:spTree>
    <p:extLst>
      <p:ext uri="{BB962C8B-B14F-4D97-AF65-F5344CB8AC3E}">
        <p14:creationId xmlns:p14="http://schemas.microsoft.com/office/powerpoint/2010/main" val="157848807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B65CD-EB0B-C556-DBF8-FA57832FA1BA}"/>
              </a:ext>
            </a:extLst>
          </p:cNvPr>
          <p:cNvSpPr>
            <a:spLocks noGrp="1"/>
          </p:cNvSpPr>
          <p:nvPr>
            <p:ph type="title"/>
          </p:nvPr>
        </p:nvSpPr>
        <p:spPr/>
        <p:txBody>
          <a:bodyPr>
            <a:normAutofit/>
          </a:bodyPr>
          <a:lstStyle/>
          <a:p>
            <a:r>
              <a:rPr lang="en-IN" sz="6000" b="1" dirty="0"/>
              <a:t>Infosys springboard </a:t>
            </a:r>
          </a:p>
        </p:txBody>
      </p:sp>
      <p:sp>
        <p:nvSpPr>
          <p:cNvPr id="3" name="Content Placeholder 2">
            <a:extLst>
              <a:ext uri="{FF2B5EF4-FFF2-40B4-BE49-F238E27FC236}">
                <a16:creationId xmlns:a16="http://schemas.microsoft.com/office/drawing/2014/main" id="{88428000-4A0B-8978-3EDF-9844C544F34A}"/>
              </a:ext>
            </a:extLst>
          </p:cNvPr>
          <p:cNvSpPr>
            <a:spLocks noGrp="1"/>
          </p:cNvSpPr>
          <p:nvPr>
            <p:ph idx="1"/>
          </p:nvPr>
        </p:nvSpPr>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Team Details:</a:t>
            </a:r>
          </a:p>
          <a:p>
            <a:r>
              <a:rPr lang="en-IN" b="1" dirty="0">
                <a:latin typeface="Times New Roman" panose="02020603050405020304" pitchFamily="18" charset="0"/>
                <a:cs typeface="Times New Roman" panose="02020603050405020304" pitchFamily="18" charset="0"/>
              </a:rPr>
              <a:t>Project Name: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FoodTrends</a:t>
            </a:r>
            <a:r>
              <a:rPr lang="en-IN" dirty="0">
                <a:latin typeface="Times New Roman" panose="02020603050405020304" pitchFamily="18" charset="0"/>
                <a:cs typeface="Times New Roman" panose="02020603050405020304" pitchFamily="18" charset="0"/>
              </a:rPr>
              <a:t>: Understanding Customer Preferences in F&amp;B</a:t>
            </a:r>
          </a:p>
          <a:p>
            <a:r>
              <a:rPr lang="en-IN" b="1" dirty="0">
                <a:latin typeface="Times New Roman" panose="02020603050405020304" pitchFamily="18" charset="0"/>
                <a:cs typeface="Times New Roman" panose="02020603050405020304" pitchFamily="18" charset="0"/>
              </a:rPr>
              <a:t>Group ID:</a:t>
            </a:r>
            <a:r>
              <a:rPr lang="en-IN" dirty="0">
                <a:latin typeface="Times New Roman" panose="02020603050405020304" pitchFamily="18" charset="0"/>
                <a:cs typeface="Times New Roman" panose="02020603050405020304" pitchFamily="18" charset="0"/>
              </a:rPr>
              <a:t> Group 1, Batch-11</a:t>
            </a:r>
          </a:p>
          <a:p>
            <a:r>
              <a:rPr lang="en-IN" b="1" dirty="0">
                <a:latin typeface="Times New Roman" panose="02020603050405020304" pitchFamily="18" charset="0"/>
                <a:cs typeface="Times New Roman" panose="02020603050405020304" pitchFamily="18" charset="0"/>
              </a:rPr>
              <a:t>Team Members:</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Harshini G</a:t>
            </a:r>
          </a:p>
          <a:p>
            <a:pPr marL="0" indent="0">
              <a:buNone/>
            </a:pPr>
            <a:r>
              <a:rPr lang="en-IN" dirty="0">
                <a:latin typeface="Times New Roman" panose="02020603050405020304" pitchFamily="18" charset="0"/>
                <a:cs typeface="Times New Roman" panose="02020603050405020304" pitchFamily="18" charset="0"/>
              </a:rPr>
              <a:t>                                     Lekhana S.R</a:t>
            </a:r>
          </a:p>
          <a:p>
            <a:pPr marL="0" indent="0">
              <a:buNone/>
            </a:pPr>
            <a:r>
              <a:rPr lang="en-IN" dirty="0">
                <a:latin typeface="Times New Roman" panose="02020603050405020304" pitchFamily="18" charset="0"/>
                <a:cs typeface="Times New Roman" panose="02020603050405020304" pitchFamily="18" charset="0"/>
              </a:rPr>
              <a:t>                                     Jai Akash</a:t>
            </a:r>
          </a:p>
          <a:p>
            <a:pPr marL="0" indent="0">
              <a:buNone/>
            </a:pPr>
            <a:r>
              <a:rPr lang="en-IN" dirty="0">
                <a:latin typeface="Times New Roman" panose="02020603050405020304" pitchFamily="18" charset="0"/>
                <a:cs typeface="Times New Roman" panose="02020603050405020304" pitchFamily="18" charset="0"/>
              </a:rPr>
              <a:t>                                    Abhinit Kumar</a:t>
            </a:r>
          </a:p>
          <a:p>
            <a:r>
              <a:rPr lang="en-IN" b="1" dirty="0">
                <a:latin typeface="Times New Roman" panose="02020603050405020304" pitchFamily="18" charset="0"/>
                <a:cs typeface="Times New Roman" panose="02020603050405020304" pitchFamily="18" charset="0"/>
              </a:rPr>
              <a:t>Mentor/Guide:</a:t>
            </a:r>
            <a:r>
              <a:rPr lang="en-IN" dirty="0">
                <a:latin typeface="Times New Roman" panose="02020603050405020304" pitchFamily="18" charset="0"/>
                <a:cs typeface="Times New Roman" panose="02020603050405020304" pitchFamily="18" charset="0"/>
              </a:rPr>
              <a:t> Nityasree </a:t>
            </a:r>
          </a:p>
        </p:txBody>
      </p:sp>
    </p:spTree>
    <p:extLst>
      <p:ext uri="{BB962C8B-B14F-4D97-AF65-F5344CB8AC3E}">
        <p14:creationId xmlns:p14="http://schemas.microsoft.com/office/powerpoint/2010/main" val="2114340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A7838-76A5-25AF-FEA2-2EC1A64AD29A}"/>
              </a:ext>
            </a:extLst>
          </p:cNvPr>
          <p:cNvSpPr>
            <a:spLocks noGrp="1"/>
          </p:cNvSpPr>
          <p:nvPr>
            <p:ph type="title"/>
          </p:nvPr>
        </p:nvSpPr>
        <p:spPr/>
        <p:txBody>
          <a:bodyPr/>
          <a:lstStyle/>
          <a:p>
            <a:r>
              <a:rPr lang="en-US" b="1" dirty="0"/>
              <a:t>Title and Objective</a:t>
            </a:r>
            <a:br>
              <a:rPr lang="en-US" b="1" dirty="0"/>
            </a:br>
            <a:endParaRPr lang="en-IN" dirty="0"/>
          </a:p>
        </p:txBody>
      </p:sp>
      <p:sp>
        <p:nvSpPr>
          <p:cNvPr id="3" name="Content Placeholder 2">
            <a:extLst>
              <a:ext uri="{FF2B5EF4-FFF2-40B4-BE49-F238E27FC236}">
                <a16:creationId xmlns:a16="http://schemas.microsoft.com/office/drawing/2014/main" id="{C87ADFBB-B745-CF8A-4EBB-3389FF6362E2}"/>
              </a:ext>
            </a:extLst>
          </p:cNvPr>
          <p:cNvSpPr>
            <a:spLocks noGrp="1"/>
          </p:cNvSpPr>
          <p:nvPr>
            <p:ph idx="1"/>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Project Title: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FoodTrends</a:t>
            </a:r>
            <a:r>
              <a:rPr lang="en-US" sz="2000" dirty="0">
                <a:latin typeface="Times New Roman" panose="02020603050405020304" pitchFamily="18" charset="0"/>
                <a:cs typeface="Times New Roman" panose="02020603050405020304" pitchFamily="18" charset="0"/>
              </a:rPr>
              <a:t>: Understanding Customer Preferences in F&amp;B</a:t>
            </a:r>
          </a:p>
          <a:p>
            <a:pPr marL="0" indent="0">
              <a:buNone/>
            </a:pPr>
            <a:r>
              <a:rPr lang="en-US" sz="2000" b="1" dirty="0">
                <a:latin typeface="Times New Roman" panose="02020603050405020304" pitchFamily="18" charset="0"/>
                <a:cs typeface="Times New Roman" panose="02020603050405020304" pitchFamily="18" charset="0"/>
              </a:rPr>
              <a:t>Objective:</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To examine evolving consumer behavior in the post-pandemic Food &amp; Beverage (F&amp;B) market.</a:t>
            </a:r>
          </a:p>
          <a:p>
            <a:r>
              <a:rPr lang="en-US" sz="2000" dirty="0">
                <a:latin typeface="Times New Roman" panose="02020603050405020304" pitchFamily="18" charset="0"/>
                <a:cs typeface="Times New Roman" panose="02020603050405020304" pitchFamily="18" charset="0"/>
              </a:rPr>
              <a:t>To identify the primary factors influencing food choices, including health awareness, convenience, brand perception, and pricing.</a:t>
            </a:r>
          </a:p>
          <a:p>
            <a:r>
              <a:rPr lang="en-US" sz="2000" dirty="0">
                <a:latin typeface="Times New Roman" panose="02020603050405020304" pitchFamily="18" charset="0"/>
                <a:cs typeface="Times New Roman" panose="02020603050405020304" pitchFamily="18" charset="0"/>
              </a:rPr>
              <a:t>To deliver data-driven insights and recommendations that help F&amp;B brands improve customer engagement and retention</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9353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76059-5EAB-589F-0130-3B633E65D660}"/>
              </a:ext>
            </a:extLst>
          </p:cNvPr>
          <p:cNvSpPr>
            <a:spLocks noGrp="1"/>
          </p:cNvSpPr>
          <p:nvPr>
            <p:ph type="title"/>
          </p:nvPr>
        </p:nvSpPr>
        <p:spPr>
          <a:xfrm>
            <a:off x="838200" y="166353"/>
            <a:ext cx="10515600" cy="961407"/>
          </a:xfrm>
        </p:spPr>
        <p:txBody>
          <a:bodyPr/>
          <a:lstStyle/>
          <a:p>
            <a:r>
              <a:rPr lang="en-IN" dirty="0"/>
              <a:t>Execution &amp; Milestone Reviews</a:t>
            </a:r>
          </a:p>
        </p:txBody>
      </p:sp>
      <p:sp>
        <p:nvSpPr>
          <p:cNvPr id="3" name="Content Placeholder 2">
            <a:extLst>
              <a:ext uri="{FF2B5EF4-FFF2-40B4-BE49-F238E27FC236}">
                <a16:creationId xmlns:a16="http://schemas.microsoft.com/office/drawing/2014/main" id="{C1BB8894-2723-E3C0-B8F5-C4F7F173613C}"/>
              </a:ext>
            </a:extLst>
          </p:cNvPr>
          <p:cNvSpPr>
            <a:spLocks noGrp="1"/>
          </p:cNvSpPr>
          <p:nvPr>
            <p:ph idx="1"/>
          </p:nvPr>
        </p:nvSpPr>
        <p:spPr>
          <a:xfrm>
            <a:off x="355600" y="944880"/>
            <a:ext cx="10627360" cy="5608320"/>
          </a:xfrm>
        </p:spPr>
        <p:txBody>
          <a:bodyPr>
            <a:noAutofit/>
          </a:bodyPr>
          <a:lstStyle/>
          <a:p>
            <a:pPr marL="0" indent="0">
              <a:buNone/>
            </a:pPr>
            <a:r>
              <a:rPr lang="en-US" sz="1600" b="1" u="sng" dirty="0">
                <a:latin typeface="Times New Roman" panose="02020603050405020304" pitchFamily="18" charset="0"/>
                <a:cs typeface="Times New Roman" panose="02020603050405020304" pitchFamily="18" charset="0"/>
              </a:rPr>
              <a:t>Dataset Source: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dataset (order final.xlsx) consists of 388 customer order records with 35 attributes, covering customer demographics, order details, and preference indicators such as Age, Gender, Monthly Income, Ratings, and Food Preferences.</a:t>
            </a:r>
          </a:p>
          <a:p>
            <a:pPr marL="0" indent="0">
              <a:buNone/>
            </a:pPr>
            <a:r>
              <a:rPr lang="en-US" sz="1600" b="1" u="sng" dirty="0">
                <a:latin typeface="Times New Roman" panose="02020603050405020304" pitchFamily="18" charset="0"/>
                <a:cs typeface="Times New Roman" panose="02020603050405020304" pitchFamily="18" charset="0"/>
              </a:rPr>
              <a:t>Milestone Breakdown:</a:t>
            </a:r>
            <a:endParaRPr lang="en-US" sz="1600" u="sng"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Milestone 1: Dataset Review &amp; Initial Analysis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Reviewed the dataset to check data types, consistency, and missing values.</a:t>
            </a:r>
          </a:p>
          <a:p>
            <a:r>
              <a:rPr lang="en-US" sz="1600" dirty="0">
                <a:latin typeface="Times New Roman" panose="02020603050405020304" pitchFamily="18" charset="0"/>
                <a:cs typeface="Times New Roman" panose="02020603050405020304" pitchFamily="18" charset="0"/>
              </a:rPr>
              <a:t>Identified key analytical variables related to customer demographics and behavioral patterns.</a:t>
            </a:r>
          </a:p>
          <a:p>
            <a:pPr marL="0" indent="0">
              <a:buNone/>
            </a:pPr>
            <a:r>
              <a:rPr lang="en-US" sz="1600" b="1" dirty="0">
                <a:latin typeface="Times New Roman" panose="02020603050405020304" pitchFamily="18" charset="0"/>
                <a:cs typeface="Times New Roman" panose="02020603050405020304" pitchFamily="18" charset="0"/>
              </a:rPr>
              <a:t>Milestone 2: Data Cleaning &amp; Basic Visualization (Pages 1–3)</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Processed and standardized categorical variables for analysis.</a:t>
            </a:r>
          </a:p>
          <a:p>
            <a:r>
              <a:rPr lang="en-US" sz="1600" dirty="0">
                <a:latin typeface="Times New Roman" panose="02020603050405020304" pitchFamily="18" charset="0"/>
                <a:cs typeface="Times New Roman" panose="02020603050405020304" pitchFamily="18" charset="0"/>
              </a:rPr>
              <a:t>Analyzed demographic distributions such as gender and age groups using appropriate visualizations.</a:t>
            </a:r>
          </a:p>
          <a:p>
            <a:pPr marL="0" indent="0">
              <a:buNone/>
            </a:pPr>
            <a:r>
              <a:rPr lang="en-US" sz="1600" b="1" dirty="0">
                <a:latin typeface="Times New Roman" panose="02020603050405020304" pitchFamily="18" charset="0"/>
                <a:cs typeface="Times New Roman" panose="02020603050405020304" pitchFamily="18" charset="0"/>
              </a:rPr>
              <a:t>Milestone 3: Advanced Analysis (Pages 4–5)</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Examined relationships between Monthly Income and Order Amount.</a:t>
            </a:r>
          </a:p>
          <a:p>
            <a:r>
              <a:rPr lang="en-US" sz="1600" dirty="0">
                <a:latin typeface="Times New Roman" panose="02020603050405020304" pitchFamily="18" charset="0"/>
                <a:cs typeface="Times New Roman" panose="02020603050405020304" pitchFamily="18" charset="0"/>
              </a:rPr>
              <a:t>Assessed the impact of customer ratings and health concerns on purchasing decisions.</a:t>
            </a:r>
          </a:p>
          <a:p>
            <a:pPr marL="0" indent="0">
              <a:buNone/>
            </a:pPr>
            <a:r>
              <a:rPr lang="en-US" sz="1600" b="1" dirty="0">
                <a:latin typeface="Times New Roman" panose="02020603050405020304" pitchFamily="18" charset="0"/>
                <a:cs typeface="Times New Roman" panose="02020603050405020304" pitchFamily="18" charset="0"/>
              </a:rPr>
              <a:t>Milestone 4: Final Reporting (Pages 6–7)</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Consolidated insights related to delivery wait times, affordability, and service factors.</a:t>
            </a:r>
          </a:p>
          <a:p>
            <a:r>
              <a:rPr lang="en-US" sz="1600" dirty="0">
                <a:latin typeface="Times New Roman" panose="02020603050405020304" pitchFamily="18" charset="0"/>
                <a:cs typeface="Times New Roman" panose="02020603050405020304" pitchFamily="18" charset="0"/>
              </a:rPr>
              <a:t>Derived actionable insights to support strategic decision-making for F&amp;B vendors.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0225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D977-3F39-EBC2-ED99-F8E119CFA998}"/>
              </a:ext>
            </a:extLst>
          </p:cNvPr>
          <p:cNvSpPr>
            <a:spLocks noGrp="1"/>
          </p:cNvSpPr>
          <p:nvPr>
            <p:ph type="title"/>
          </p:nvPr>
        </p:nvSpPr>
        <p:spPr>
          <a:xfrm>
            <a:off x="838200" y="144553"/>
            <a:ext cx="10515600" cy="780007"/>
          </a:xfrm>
        </p:spPr>
        <p:txBody>
          <a:bodyPr>
            <a:normAutofit/>
          </a:bodyPr>
          <a:lstStyle/>
          <a:p>
            <a:r>
              <a:rPr lang="en-IN" dirty="0"/>
              <a:t>Challenges Faced and Resolution</a:t>
            </a:r>
          </a:p>
        </p:txBody>
      </p:sp>
      <p:sp>
        <p:nvSpPr>
          <p:cNvPr id="4" name="Rectangle 1">
            <a:extLst>
              <a:ext uri="{FF2B5EF4-FFF2-40B4-BE49-F238E27FC236}">
                <a16:creationId xmlns:a16="http://schemas.microsoft.com/office/drawing/2014/main" id="{E0E504C0-3D6A-F485-2764-EEA0E036F0D2}"/>
              </a:ext>
            </a:extLst>
          </p:cNvPr>
          <p:cNvSpPr>
            <a:spLocks noGrp="1" noChangeArrowheads="1"/>
          </p:cNvSpPr>
          <p:nvPr>
            <p:ph idx="1"/>
          </p:nvPr>
        </p:nvSpPr>
        <p:spPr bwMode="auto">
          <a:xfrm>
            <a:off x="339292" y="1263114"/>
            <a:ext cx="11157284" cy="4657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u="sng" dirty="0">
                <a:latin typeface="Times New Roman" panose="02020603050405020304" pitchFamily="18" charset="0"/>
                <a:cs typeface="Times New Roman" panose="02020603050405020304" pitchFamily="18" charset="0"/>
              </a:rPr>
              <a:t>Challenge 1: Data Segmentation Across Multiple Attributes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dataset included numerous demographic, preference, and behavioral attributes, making it challenging to segment the data meaningfully for analysis.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Resolution:</a:t>
            </a:r>
            <a:r>
              <a:rPr lang="en-US" sz="2000" dirty="0">
                <a:latin typeface="Times New Roman" panose="02020603050405020304" pitchFamily="18" charset="0"/>
                <a:cs typeface="Times New Roman" panose="02020603050405020304" pitchFamily="18" charset="0"/>
              </a:rPr>
              <a:t> Structured the analysis into themed dashboards to ensure clarity and focused insights.</a:t>
            </a:r>
          </a:p>
          <a:p>
            <a:r>
              <a:rPr lang="en-US" sz="2000" b="1" u="sng" dirty="0">
                <a:latin typeface="Times New Roman" panose="02020603050405020304" pitchFamily="18" charset="0"/>
                <a:cs typeface="Times New Roman" panose="02020603050405020304" pitchFamily="18" charset="0"/>
              </a:rPr>
              <a:t>Challenge 2: Interpreting Subjective Customer Feedback</a:t>
            </a:r>
            <a:br>
              <a:rPr lang="en-US" sz="2000" u="sng"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Several variables such as </a:t>
            </a:r>
            <a:r>
              <a:rPr lang="en-US" sz="2000" i="1" dirty="0">
                <a:latin typeface="Times New Roman" panose="02020603050405020304" pitchFamily="18" charset="0"/>
                <a:cs typeface="Times New Roman" panose="02020603050405020304" pitchFamily="18" charset="0"/>
              </a:rPr>
              <a:t>Taste, Freshness, Affordability, and Ratings</a:t>
            </a:r>
            <a:r>
              <a:rPr lang="en-US" sz="2000" dirty="0">
                <a:latin typeface="Times New Roman" panose="02020603050405020304" pitchFamily="18" charset="0"/>
                <a:cs typeface="Times New Roman" panose="02020603050405020304" pitchFamily="18" charset="0"/>
              </a:rPr>
              <a:t> were perception-based, which made it difficult to quantify customer sentiment effectively.</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Resolution:</a:t>
            </a:r>
            <a:r>
              <a:rPr lang="en-US" sz="2000" dirty="0">
                <a:latin typeface="Times New Roman" panose="02020603050405020304" pitchFamily="18" charset="0"/>
                <a:cs typeface="Times New Roman" panose="02020603050405020304" pitchFamily="18" charset="0"/>
              </a:rPr>
              <a:t> Used appropriate visualizations like donut charts and stacked bars to clearly represent opinion distributions.</a:t>
            </a:r>
          </a:p>
          <a:p>
            <a:r>
              <a:rPr lang="en-US" sz="2000" b="1" u="sng" dirty="0">
                <a:latin typeface="Times New Roman" panose="02020603050405020304" pitchFamily="18" charset="0"/>
                <a:cs typeface="Times New Roman" panose="02020603050405020304" pitchFamily="18" charset="0"/>
              </a:rPr>
              <a:t>Challenge 3: Identifying Clear Time-Based Patterns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Multiple time-related fields such as </a:t>
            </a:r>
            <a:r>
              <a:rPr lang="en-US" sz="2000" i="1" dirty="0">
                <a:latin typeface="Times New Roman" panose="02020603050405020304" pitchFamily="18" charset="0"/>
                <a:cs typeface="Times New Roman" panose="02020603050405020304" pitchFamily="18" charset="0"/>
              </a:rPr>
              <a:t>Order Time, Time of Day, and Monthly Trends</a:t>
            </a:r>
            <a:r>
              <a:rPr lang="en-US" sz="2000" dirty="0">
                <a:latin typeface="Times New Roman" panose="02020603050405020304" pitchFamily="18" charset="0"/>
                <a:cs typeface="Times New Roman" panose="02020603050405020304" pitchFamily="18" charset="0"/>
              </a:rPr>
              <a:t> created overlapping insights during visualization.</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Resolution:</a:t>
            </a:r>
            <a:r>
              <a:rPr lang="en-US" sz="2000" dirty="0">
                <a:latin typeface="Times New Roman" panose="02020603050405020304" pitchFamily="18" charset="0"/>
                <a:cs typeface="Times New Roman" panose="02020603050405020304" pitchFamily="18" charset="0"/>
              </a:rPr>
              <a:t> Carefully separated time variables across different visuals to avoid redundancy and highlight meaningful patterns.</a:t>
            </a:r>
          </a:p>
        </p:txBody>
      </p:sp>
    </p:spTree>
    <p:extLst>
      <p:ext uri="{BB962C8B-B14F-4D97-AF65-F5344CB8AC3E}">
        <p14:creationId xmlns:p14="http://schemas.microsoft.com/office/powerpoint/2010/main" val="2445163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90975-B602-E3D7-61EF-75A86AA16707}"/>
              </a:ext>
            </a:extLst>
          </p:cNvPr>
          <p:cNvSpPr>
            <a:spLocks noGrp="1"/>
          </p:cNvSpPr>
          <p:nvPr>
            <p:ph type="title"/>
          </p:nvPr>
        </p:nvSpPr>
        <p:spPr>
          <a:xfrm>
            <a:off x="838200" y="1"/>
            <a:ext cx="10515600" cy="701040"/>
          </a:xfrm>
        </p:spPr>
        <p:txBody>
          <a:bodyPr>
            <a:normAutofit/>
          </a:bodyPr>
          <a:lstStyle/>
          <a:p>
            <a:r>
              <a:rPr lang="en-IN" dirty="0"/>
              <a:t>Learnings and Skills Used</a:t>
            </a:r>
          </a:p>
        </p:txBody>
      </p:sp>
      <p:sp>
        <p:nvSpPr>
          <p:cNvPr id="4" name="Rectangle 1">
            <a:extLst>
              <a:ext uri="{FF2B5EF4-FFF2-40B4-BE49-F238E27FC236}">
                <a16:creationId xmlns:a16="http://schemas.microsoft.com/office/drawing/2014/main" id="{CF28312D-B7E7-93F0-6425-F155368FE2B1}"/>
              </a:ext>
            </a:extLst>
          </p:cNvPr>
          <p:cNvSpPr>
            <a:spLocks noGrp="1" noChangeArrowheads="1"/>
          </p:cNvSpPr>
          <p:nvPr>
            <p:ph idx="1"/>
          </p:nvPr>
        </p:nvSpPr>
        <p:spPr bwMode="auto">
          <a:xfrm>
            <a:off x="264160" y="718780"/>
            <a:ext cx="11663680" cy="57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u="sng" dirty="0">
                <a:latin typeface="Times New Roman" panose="02020603050405020304" pitchFamily="18" charset="0"/>
                <a:cs typeface="Times New Roman" panose="02020603050405020304" pitchFamily="18" charset="0"/>
              </a:rPr>
              <a:t>Tools</a:t>
            </a:r>
          </a:p>
          <a:p>
            <a:r>
              <a:rPr lang="en-US" b="1" dirty="0">
                <a:latin typeface="Times New Roman" panose="02020603050405020304" pitchFamily="18" charset="0"/>
                <a:cs typeface="Times New Roman" panose="02020603050405020304" pitchFamily="18" charset="0"/>
              </a:rPr>
              <a:t>Power BI:</a:t>
            </a:r>
            <a:r>
              <a:rPr lang="en-US" dirty="0">
                <a:latin typeface="Times New Roman" panose="02020603050405020304" pitchFamily="18" charset="0"/>
                <a:cs typeface="Times New Roman" panose="02020603050405020304" pitchFamily="18" charset="0"/>
              </a:rPr>
              <a:t> Used to create interactive dashboards and perform visual storytelling for customer behavior analysis.</a:t>
            </a:r>
          </a:p>
          <a:p>
            <a:r>
              <a:rPr lang="en-US" b="1" dirty="0">
                <a:latin typeface="Times New Roman" panose="02020603050405020304" pitchFamily="18" charset="0"/>
                <a:cs typeface="Times New Roman" panose="02020603050405020304" pitchFamily="18" charset="0"/>
              </a:rPr>
              <a:t>Microsoft Excel:</a:t>
            </a:r>
            <a:r>
              <a:rPr lang="en-US" dirty="0">
                <a:latin typeface="Times New Roman" panose="02020603050405020304" pitchFamily="18" charset="0"/>
                <a:cs typeface="Times New Roman" panose="02020603050405020304" pitchFamily="18" charset="0"/>
              </a:rPr>
              <a:t> Used for data entry, basic preprocessing, sorting, and validation of the dataset.</a:t>
            </a:r>
          </a:p>
          <a:p>
            <a:pPr marL="0" indent="0">
              <a:buNone/>
            </a:pPr>
            <a:r>
              <a:rPr lang="en-US" b="1" u="sng" dirty="0">
                <a:latin typeface="Times New Roman" panose="02020603050405020304" pitchFamily="18" charset="0"/>
                <a:cs typeface="Times New Roman" panose="02020603050405020304" pitchFamily="18" charset="0"/>
              </a:rPr>
              <a:t>Data Science &amp; Visualization Skills</a:t>
            </a:r>
          </a:p>
          <a:p>
            <a:r>
              <a:rPr lang="en-US" b="1" dirty="0">
                <a:latin typeface="Times New Roman" panose="02020603050405020304" pitchFamily="18" charset="0"/>
                <a:cs typeface="Times New Roman" panose="02020603050405020304" pitchFamily="18" charset="0"/>
              </a:rPr>
              <a:t>Interactive Dashboarding:</a:t>
            </a:r>
            <a:r>
              <a:rPr lang="en-US" dirty="0">
                <a:latin typeface="Times New Roman" panose="02020603050405020304" pitchFamily="18" charset="0"/>
                <a:cs typeface="Times New Roman" panose="02020603050405020304" pitchFamily="18" charset="0"/>
              </a:rPr>
              <a:t> Built dynamic dashboards with slicers to filter data by </a:t>
            </a:r>
            <a:r>
              <a:rPr lang="en-US" i="1" dirty="0">
                <a:latin typeface="Times New Roman" panose="02020603050405020304" pitchFamily="18" charset="0"/>
                <a:cs typeface="Times New Roman" panose="02020603050405020304" pitchFamily="18" charset="0"/>
              </a:rPr>
              <a:t>City, Gender,</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Time of the Day</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Visual Analytics:</a:t>
            </a:r>
            <a:r>
              <a:rPr lang="en-US" dirty="0">
                <a:latin typeface="Times New Roman" panose="02020603050405020304" pitchFamily="18" charset="0"/>
                <a:cs typeface="Times New Roman" panose="02020603050405020304" pitchFamily="18" charset="0"/>
              </a:rPr>
              <a:t> Used bar charts, donut charts, line charts, and funnel visuals to analyze cuisine preferences and ordering patterns.</a:t>
            </a:r>
          </a:p>
          <a:p>
            <a:r>
              <a:rPr lang="en-US" b="1" dirty="0">
                <a:latin typeface="Times New Roman" panose="02020603050405020304" pitchFamily="18" charset="0"/>
                <a:cs typeface="Times New Roman" panose="02020603050405020304" pitchFamily="18" charset="0"/>
              </a:rPr>
              <a:t>Data Preparation:</a:t>
            </a:r>
            <a:r>
              <a:rPr lang="en-US" dirty="0">
                <a:latin typeface="Times New Roman" panose="02020603050405020304" pitchFamily="18" charset="0"/>
                <a:cs typeface="Times New Roman" panose="02020603050405020304" pitchFamily="18" charset="0"/>
              </a:rPr>
              <a:t> Connected Excel data to Power BI and managed dimensions and measures for analysis.</a:t>
            </a:r>
          </a:p>
          <a:p>
            <a:pPr marL="0" indent="0">
              <a:buNone/>
            </a:pPr>
            <a:r>
              <a:rPr lang="en-US" b="1" u="sng" dirty="0">
                <a:latin typeface="Times New Roman" panose="02020603050405020304" pitchFamily="18" charset="0"/>
                <a:cs typeface="Times New Roman" panose="02020603050405020304" pitchFamily="18" charset="0"/>
              </a:rPr>
              <a:t>Domain Knowledge</a:t>
            </a:r>
          </a:p>
          <a:p>
            <a:r>
              <a:rPr lang="en-US" b="1" dirty="0">
                <a:latin typeface="Times New Roman" panose="02020603050405020304" pitchFamily="18" charset="0"/>
                <a:cs typeface="Times New Roman" panose="02020603050405020304" pitchFamily="18" charset="0"/>
              </a:rPr>
              <a:t>F&amp;B Business Framework (4 Ps):</a:t>
            </a:r>
            <a:r>
              <a:rPr lang="en-US" dirty="0">
                <a:latin typeface="Times New Roman" panose="02020603050405020304" pitchFamily="18" charset="0"/>
                <a:cs typeface="Times New Roman" panose="02020603050405020304" pitchFamily="18" charset="0"/>
              </a:rPr>
              <a:t> Applied Product (Veg/Non-Veg), Price (Affordability), Place (Order Platform), and Promotion (Offers and Ratings).</a:t>
            </a:r>
          </a:p>
          <a:p>
            <a:r>
              <a:rPr lang="en-US" b="1" dirty="0">
                <a:latin typeface="Times New Roman" panose="02020603050405020304" pitchFamily="18" charset="0"/>
                <a:cs typeface="Times New Roman" panose="02020603050405020304" pitchFamily="18" charset="0"/>
              </a:rPr>
              <a:t>Customer Segmentation:</a:t>
            </a:r>
            <a:r>
              <a:rPr lang="en-US" dirty="0">
                <a:latin typeface="Times New Roman" panose="02020603050405020304" pitchFamily="18" charset="0"/>
                <a:cs typeface="Times New Roman" panose="02020603050405020304" pitchFamily="18" charset="0"/>
              </a:rPr>
              <a:t> Grouped customers into health-conscious and value-oriented segments based on preferences.</a:t>
            </a:r>
          </a:p>
          <a:p>
            <a:pPr marL="0" indent="0">
              <a:buNone/>
            </a:pPr>
            <a:r>
              <a:rPr lang="en-US" b="1" u="sng" dirty="0">
                <a:latin typeface="Times New Roman" panose="02020603050405020304" pitchFamily="18" charset="0"/>
                <a:cs typeface="Times New Roman" panose="02020603050405020304" pitchFamily="18" charset="0"/>
              </a:rPr>
              <a:t>Soft Skills</a:t>
            </a:r>
          </a:p>
          <a:p>
            <a:r>
              <a:rPr lang="en-US" b="1" dirty="0">
                <a:latin typeface="Times New Roman" panose="02020603050405020304" pitchFamily="18" charset="0"/>
                <a:cs typeface="Times New Roman" panose="02020603050405020304" pitchFamily="18" charset="0"/>
              </a:rPr>
              <a:t>Visual Storytelling:</a:t>
            </a:r>
            <a:r>
              <a:rPr lang="en-US" dirty="0">
                <a:latin typeface="Times New Roman" panose="02020603050405020304" pitchFamily="18" charset="0"/>
                <a:cs typeface="Times New Roman" panose="02020603050405020304" pitchFamily="18" charset="0"/>
              </a:rPr>
              <a:t> Presented insights in a structured flow using dashboards.</a:t>
            </a:r>
          </a:p>
          <a:p>
            <a:r>
              <a:rPr lang="en-US" b="1" dirty="0">
                <a:latin typeface="Times New Roman" panose="02020603050405020304" pitchFamily="18" charset="0"/>
                <a:cs typeface="Times New Roman" panose="02020603050405020304" pitchFamily="18" charset="0"/>
              </a:rPr>
              <a:t>Collaboration:</a:t>
            </a:r>
            <a:r>
              <a:rPr lang="en-US" dirty="0">
                <a:latin typeface="Times New Roman" panose="02020603050405020304" pitchFamily="18" charset="0"/>
                <a:cs typeface="Times New Roman" panose="02020603050405020304" pitchFamily="18" charset="0"/>
              </a:rPr>
              <a:t> Worked as a team to identify key KPIs for analysis and presentation.</a:t>
            </a:r>
          </a:p>
        </p:txBody>
      </p:sp>
    </p:spTree>
    <p:extLst>
      <p:ext uri="{BB962C8B-B14F-4D97-AF65-F5344CB8AC3E}">
        <p14:creationId xmlns:p14="http://schemas.microsoft.com/office/powerpoint/2010/main" val="1101469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24F-A558-6046-DAD6-724D37959C48}"/>
              </a:ext>
            </a:extLst>
          </p:cNvPr>
          <p:cNvSpPr>
            <a:spLocks noGrp="1"/>
          </p:cNvSpPr>
          <p:nvPr>
            <p:ph type="title"/>
          </p:nvPr>
        </p:nvSpPr>
        <p:spPr>
          <a:xfrm>
            <a:off x="838200" y="189230"/>
            <a:ext cx="10515600" cy="803275"/>
          </a:xfrm>
        </p:spPr>
        <p:txBody>
          <a:bodyPr/>
          <a:lstStyle/>
          <a:p>
            <a:r>
              <a:rPr lang="en-US" dirty="0"/>
              <a:t>Key Insights and Future Enhancement</a:t>
            </a:r>
            <a:endParaRPr lang="en-IN" dirty="0"/>
          </a:p>
        </p:txBody>
      </p:sp>
      <p:sp>
        <p:nvSpPr>
          <p:cNvPr id="3" name="Content Placeholder 2">
            <a:extLst>
              <a:ext uri="{FF2B5EF4-FFF2-40B4-BE49-F238E27FC236}">
                <a16:creationId xmlns:a16="http://schemas.microsoft.com/office/drawing/2014/main" id="{CC5CB65A-120D-1A2C-F8C5-B99ED839FDEA}"/>
              </a:ext>
            </a:extLst>
          </p:cNvPr>
          <p:cNvSpPr>
            <a:spLocks noGrp="1"/>
          </p:cNvSpPr>
          <p:nvPr>
            <p:ph idx="1"/>
          </p:nvPr>
        </p:nvSpPr>
        <p:spPr>
          <a:xfrm>
            <a:off x="314960" y="911225"/>
            <a:ext cx="9682480" cy="4351338"/>
          </a:xfrm>
        </p:spPr>
        <p:txBody>
          <a:bodyPr>
            <a:noAutofit/>
          </a:bodyPr>
          <a:lstStyle/>
          <a:p>
            <a:pPr marL="0" indent="0">
              <a:buNone/>
            </a:pPr>
            <a:r>
              <a:rPr lang="en-US" sz="2000" b="1" u="sng" dirty="0">
                <a:latin typeface="Times New Roman" panose="02020603050405020304" pitchFamily="18" charset="0"/>
                <a:cs typeface="Times New Roman" panose="02020603050405020304" pitchFamily="18" charset="0"/>
              </a:rPr>
              <a:t>Key Insights</a:t>
            </a:r>
          </a:p>
          <a:p>
            <a:r>
              <a:rPr lang="en-US" sz="2000" b="1" dirty="0">
                <a:latin typeface="Times New Roman" panose="02020603050405020304" pitchFamily="18" charset="0"/>
                <a:cs typeface="Times New Roman" panose="02020603050405020304" pitchFamily="18" charset="0"/>
              </a:rPr>
              <a:t>Student Influence:</a:t>
            </a:r>
            <a:r>
              <a:rPr lang="en-US" sz="2000" dirty="0">
                <a:latin typeface="Times New Roman" panose="02020603050405020304" pitchFamily="18" charset="0"/>
                <a:cs typeface="Times New Roman" panose="02020603050405020304" pitchFamily="18" charset="0"/>
              </a:rPr>
              <a:t> A large share of customers are students with no income, yet they actively place orders, particularly for veg food and snacks, highlighting strong convenience-driven behavior.</a:t>
            </a:r>
          </a:p>
          <a:p>
            <a:r>
              <a:rPr lang="en-US" sz="2000" b="1" dirty="0">
                <a:latin typeface="Times New Roman" panose="02020603050405020304" pitchFamily="18" charset="0"/>
                <a:cs typeface="Times New Roman" panose="02020603050405020304" pitchFamily="18" charset="0"/>
              </a:rPr>
              <a:t>Trust Factors:</a:t>
            </a:r>
            <a:r>
              <a:rPr lang="en-US" sz="2000" dirty="0">
                <a:latin typeface="Times New Roman" panose="02020603050405020304" pitchFamily="18" charset="0"/>
                <a:cs typeface="Times New Roman" panose="02020603050405020304" pitchFamily="18" charset="0"/>
              </a:rPr>
              <a:t> Google Maps accuracy and order tracking systems are rated as important by a majority of customers, indicating that transparency and reliability significantly impact satisfaction.</a:t>
            </a:r>
          </a:p>
          <a:p>
            <a:r>
              <a:rPr lang="en-US" sz="2000" b="1" dirty="0">
                <a:latin typeface="Times New Roman" panose="02020603050405020304" pitchFamily="18" charset="0"/>
                <a:cs typeface="Times New Roman" panose="02020603050405020304" pitchFamily="18" charset="0"/>
              </a:rPr>
              <a:t>Health Trend:</a:t>
            </a:r>
            <a:r>
              <a:rPr lang="en-US" sz="2000" dirty="0">
                <a:latin typeface="Times New Roman" panose="02020603050405020304" pitchFamily="18" charset="0"/>
                <a:cs typeface="Times New Roman" panose="02020603050405020304" pitchFamily="18" charset="0"/>
              </a:rPr>
              <a:t> Customers who strongly agree on health concerns show a clear preference for veg food, reflecting a growing health-conscious ordering pattern.</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b="1" u="sng" dirty="0">
                <a:latin typeface="Times New Roman" panose="02020603050405020304" pitchFamily="18" charset="0"/>
                <a:cs typeface="Times New Roman" panose="02020603050405020304" pitchFamily="18" charset="0"/>
              </a:rPr>
              <a:t>Future Enhancements</a:t>
            </a:r>
          </a:p>
          <a:p>
            <a:r>
              <a:rPr lang="en-US" sz="2000" b="1" dirty="0">
                <a:latin typeface="Times New Roman" panose="02020603050405020304" pitchFamily="18" charset="0"/>
                <a:cs typeface="Times New Roman" panose="02020603050405020304" pitchFamily="18" charset="0"/>
              </a:rPr>
              <a:t>Machine Learning Integration:</a:t>
            </a:r>
            <a:r>
              <a:rPr lang="en-US" sz="2000" dirty="0">
                <a:latin typeface="Times New Roman" panose="02020603050405020304" pitchFamily="18" charset="0"/>
                <a:cs typeface="Times New Roman" panose="02020603050405020304" pitchFamily="18" charset="0"/>
              </a:rPr>
              <a:t> Develop a recommendation system based on past orders and customer ratings to personalize food suggestions.</a:t>
            </a:r>
          </a:p>
          <a:p>
            <a:r>
              <a:rPr lang="en-US" sz="2000" b="1" dirty="0">
                <a:latin typeface="Times New Roman" panose="02020603050405020304" pitchFamily="18" charset="0"/>
                <a:cs typeface="Times New Roman" panose="02020603050405020304" pitchFamily="18" charset="0"/>
              </a:rPr>
              <a:t>Real-Time Analysis:</a:t>
            </a:r>
            <a:r>
              <a:rPr lang="en-US" sz="2000" dirty="0">
                <a:latin typeface="Times New Roman" panose="02020603050405020304" pitchFamily="18" charset="0"/>
                <a:cs typeface="Times New Roman" panose="02020603050405020304" pitchFamily="18" charset="0"/>
              </a:rPr>
              <a:t> Integrate live data from food delivery platforms to analyze peak-hour trends and dynamic customer behavior.</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1919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93914-6650-7477-C8E2-E2803B26AEB6}"/>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1E929AD0-AC76-BEE9-ADC8-9D8E24E4C9A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analysis indicates that modern F&amp;B customers place equal importance on convenience and trust, alongside food quality. Factors such as faster delivery timelines, transparent order tracking, and reliable ratings play a critical role in shaping customer satisfaction and repeat usage. Additionally, affordability and health-conscious food choices emerge as key decision drivers, particularly among the younger, student-dominated customer segment. To succeed in this competitive market, F&amp;B brands must adopt a balanced strategy that integrates efficient service, trustworthy digital experiences, and value-driven, health-oriented offerings.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3160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0FD95-DE96-8825-CDDC-4F43002175FB}"/>
              </a:ext>
            </a:extLst>
          </p:cNvPr>
          <p:cNvSpPr>
            <a:spLocks noGrp="1"/>
          </p:cNvSpPr>
          <p:nvPr>
            <p:ph type="title"/>
          </p:nvPr>
        </p:nvSpPr>
        <p:spPr/>
        <p:txBody>
          <a:bodyPr/>
          <a:lstStyle/>
          <a:p>
            <a:r>
              <a:rPr lang="en-IN" dirty="0"/>
              <a:t>Acknowledgement and References</a:t>
            </a:r>
          </a:p>
        </p:txBody>
      </p:sp>
      <p:sp>
        <p:nvSpPr>
          <p:cNvPr id="4" name="Rectangle 1">
            <a:extLst>
              <a:ext uri="{FF2B5EF4-FFF2-40B4-BE49-F238E27FC236}">
                <a16:creationId xmlns:a16="http://schemas.microsoft.com/office/drawing/2014/main" id="{738D9261-CCFC-480B-DBD7-0A0570064088}"/>
              </a:ext>
            </a:extLst>
          </p:cNvPr>
          <p:cNvSpPr>
            <a:spLocks noGrp="1" noChangeArrowheads="1"/>
          </p:cNvSpPr>
          <p:nvPr>
            <p:ph idx="1"/>
          </p:nvPr>
        </p:nvSpPr>
        <p:spPr bwMode="auto">
          <a:xfrm>
            <a:off x="767080" y="1930400"/>
            <a:ext cx="899561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Acknowledgement: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thank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Infosys Springboard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providing the platform to apply our analytical skills and our mentor for their guidance throughout the milestones.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References: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order final.xlsx (Provided by Infosys Springboard)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Documentation (Pandas/Seaborn)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F&amp;B Industry Reports 2024.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9211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35A161-4E6F-071F-DC66-8C43E759E134}"/>
              </a:ext>
            </a:extLst>
          </p:cNvPr>
          <p:cNvSpPr txBox="1"/>
          <p:nvPr/>
        </p:nvSpPr>
        <p:spPr>
          <a:xfrm>
            <a:off x="3288631" y="2542491"/>
            <a:ext cx="6096000" cy="1015663"/>
          </a:xfrm>
          <a:prstGeom prst="rect">
            <a:avLst/>
          </a:prstGeom>
          <a:noFill/>
        </p:spPr>
        <p:txBody>
          <a:bodyPr wrap="square">
            <a:spAutoFit/>
          </a:bodyPr>
          <a:lstStyle/>
          <a:p>
            <a:r>
              <a:rPr lang="en-IN" sz="6000" dirty="0"/>
              <a:t>Thank You</a:t>
            </a:r>
          </a:p>
        </p:txBody>
      </p:sp>
    </p:spTree>
    <p:extLst>
      <p:ext uri="{BB962C8B-B14F-4D97-AF65-F5344CB8AC3E}">
        <p14:creationId xmlns:p14="http://schemas.microsoft.com/office/powerpoint/2010/main" val="198001704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110</TotalTime>
  <Words>938</Words>
  <Application>Microsoft Office PowerPoint</Application>
  <PresentationFormat>Widescreen</PresentationFormat>
  <Paragraphs>68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Times New Roman</vt:lpstr>
      <vt:lpstr>Trebuchet MS</vt:lpstr>
      <vt:lpstr>Wingdings 3</vt:lpstr>
      <vt:lpstr>Facet</vt:lpstr>
      <vt:lpstr>Infosys springboard </vt:lpstr>
      <vt:lpstr>Title and Objective </vt:lpstr>
      <vt:lpstr>Execution &amp; Milestone Reviews</vt:lpstr>
      <vt:lpstr>Challenges Faced and Resolution</vt:lpstr>
      <vt:lpstr>Learnings and Skills Used</vt:lpstr>
      <vt:lpstr>Key Insights and Future Enhancement</vt:lpstr>
      <vt:lpstr>Conclusion</vt:lpstr>
      <vt:lpstr>Acknowledgement and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lekhana sr</dc:creator>
  <cp:lastModifiedBy>Harshini Ganesan</cp:lastModifiedBy>
  <cp:revision>2</cp:revision>
  <dcterms:created xsi:type="dcterms:W3CDTF">2026-02-06T13:08:20Z</dcterms:created>
  <dcterms:modified xsi:type="dcterms:W3CDTF">2026-02-07T12:31:18Z</dcterms:modified>
</cp:coreProperties>
</file>