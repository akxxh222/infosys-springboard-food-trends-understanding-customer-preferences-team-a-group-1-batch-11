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9" r:id="rId4"/>
    <p:sldId id="270" r:id="rId5"/>
    <p:sldId id="271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40671E-8504-42E4-A23B-C0FC6DC1D6E8}" v="8" dt="2026-02-14T15:11:35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953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37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590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50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71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8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3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990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554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81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83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3AFE63E-E929-4A31-ACF6-EE2FF58D8A4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9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65CD-EB0B-C556-DBF8-FA57832F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dirty="0"/>
              <a:t>Infosys Springboard Virtual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8000-4A0B-8978-3EDF-9844C544F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14600"/>
            <a:ext cx="10058400" cy="393192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Team Details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Project Name:</a:t>
            </a:r>
            <a:r>
              <a:rPr lang="en-IN" dirty="0"/>
              <a:t> </a:t>
            </a:r>
            <a:r>
              <a:rPr lang="en-IN" dirty="0" err="1"/>
              <a:t>FoodTrends</a:t>
            </a:r>
            <a:r>
              <a:rPr lang="en-IN" dirty="0"/>
              <a:t>: Understanding Customer Preferences in F&amp;B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Group ID:</a:t>
            </a:r>
            <a:r>
              <a:rPr lang="en-IN" dirty="0"/>
              <a:t> Team A, Group 1, Batch-11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b="1" dirty="0"/>
              <a:t>Team Members:</a:t>
            </a:r>
            <a:r>
              <a:rPr lang="en-IN" dirty="0"/>
              <a:t> Lekhana S.R</a:t>
            </a:r>
          </a:p>
          <a:p>
            <a:pPr marL="0" indent="0" algn="just">
              <a:buNone/>
            </a:pPr>
            <a:r>
              <a:rPr lang="en-IN" dirty="0"/>
              <a:t>                               Harshini Ganesan</a:t>
            </a:r>
          </a:p>
          <a:p>
            <a:pPr marL="0" indent="0" algn="just">
              <a:buNone/>
            </a:pPr>
            <a:r>
              <a:rPr lang="en-IN" dirty="0"/>
              <a:t>                               Jai Akash L J</a:t>
            </a:r>
          </a:p>
          <a:p>
            <a:pPr marL="0" indent="0" algn="just">
              <a:buNone/>
            </a:pPr>
            <a:r>
              <a:rPr lang="en-IN" dirty="0"/>
              <a:t>                               Abhinit Kumar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spc="214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Mentor</a:t>
            </a:r>
            <a:r>
              <a:rPr lang="en-US" spc="214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: Ms. Nityasree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34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838-76A5-25AF-FEA2-2EC1A64A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570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ADFBB-B745-CF8A-4EBB-3389FF63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b="1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Decode Customer Personas:</a:t>
            </a:r>
            <a:r>
              <a:rPr lang="en-US" altLang="en-US" sz="2400" dirty="0">
                <a:cs typeface="Poppins" panose="00000500000000000000" pitchFamily="2" charset="0"/>
              </a:rPr>
              <a:t> To transform demographic data (Age, Income, Occupation) into "Customer Profile Intelligence" that identifies who the high-value diners are.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Analyze Ordering Ecosystems:</a:t>
            </a:r>
            <a:r>
              <a:rPr lang="en-US" altLang="en-US" sz="2400" dirty="0">
                <a:cs typeface="Poppins" panose="00000500000000000000" pitchFamily="2" charset="0"/>
              </a:rPr>
              <a:t> To map "Ordering Patterns &amp; Platform Behavior," determining whether customers prefer direct interaction or digital delivery apps.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Evaluate Service Excellence:</a:t>
            </a:r>
            <a:r>
              <a:rPr lang="en-US" altLang="en-US" sz="2400" dirty="0">
                <a:cs typeface="Poppins" panose="00000500000000000000" pitchFamily="2" charset="0"/>
              </a:rPr>
              <a:t> To measure "Delivery Experience &amp; Quality" by correlating wait times and food freshness with overall customer satisfaction ratings.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Identify Market Drivers:</a:t>
            </a:r>
            <a:r>
              <a:rPr lang="en-US" altLang="en-US" sz="2400" dirty="0">
                <a:cs typeface="Poppins" panose="00000500000000000000" pitchFamily="2" charset="0"/>
              </a:rPr>
              <a:t> To uncover "Cuisine Performance &amp; Influence Factors" (like discounts and health concerns) to help restaurants optimize their menus and promotions.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35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D5AD27-366F-7536-435F-1CB2DB62BCFA}"/>
              </a:ext>
            </a:extLst>
          </p:cNvPr>
          <p:cNvSpPr txBox="1"/>
          <p:nvPr/>
        </p:nvSpPr>
        <p:spPr>
          <a:xfrm>
            <a:off x="169055" y="190658"/>
            <a:ext cx="56739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Project milestones: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F7A18D-21E3-7623-0B30-084A19589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45" y="834536"/>
            <a:ext cx="3310330" cy="2740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F7CF3B-6290-3173-CF75-73D925226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596" y="834536"/>
            <a:ext cx="3300566" cy="2740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21C2B4-D286-22E8-1067-803EBD49B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45" y="3774982"/>
            <a:ext cx="3310330" cy="2740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ECC9DA-7794-9E88-D1A0-7614A047B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596" y="3774982"/>
            <a:ext cx="3349728" cy="2740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AA3012-AA6B-7A16-352F-FA57486EE8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1" y="492286"/>
            <a:ext cx="4398264" cy="602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0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99EA69-207D-0CCF-E7A5-C698B64A9AEC}"/>
              </a:ext>
            </a:extLst>
          </p:cNvPr>
          <p:cNvSpPr txBox="1"/>
          <p:nvPr/>
        </p:nvSpPr>
        <p:spPr>
          <a:xfrm>
            <a:off x="447262" y="804861"/>
            <a:ext cx="5334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SNAPSHOTS: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5526EF-274B-2B29-84CC-8290E2D73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2607"/>
            <a:ext cx="5718314" cy="2921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EBA68C-6D93-4778-6946-2BA821FCE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41" y="3309373"/>
            <a:ext cx="5718314" cy="3140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CADB40-B892-75F8-C7ED-B9DFBE0B3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09373"/>
            <a:ext cx="5718314" cy="310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0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5D989A-4FE5-0014-5AB9-FE79D12AA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87" y="267300"/>
            <a:ext cx="5676534" cy="2889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48877F-9554-0D9F-2883-37F454898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75" y="3269975"/>
            <a:ext cx="5686746" cy="32599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FAD5BE-6A04-707A-BD5F-7187454C2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7300"/>
            <a:ext cx="5790613" cy="28892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9FDA35-5F5E-A82C-7A93-CD3C203A3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287809"/>
            <a:ext cx="5800825" cy="324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3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D977-3F39-EBC2-ED99-F8E119CF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0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Challenges Faced and Resolution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EA535-8F8B-0DAE-CA65-224DC70162E5}"/>
              </a:ext>
            </a:extLst>
          </p:cNvPr>
          <p:cNvSpPr txBox="1"/>
          <p:nvPr/>
        </p:nvSpPr>
        <p:spPr>
          <a:xfrm>
            <a:off x="486918" y="1260920"/>
            <a:ext cx="50543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Challenges Faced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Limited Team Collaboration in Power BI</a:t>
            </a:r>
            <a:br>
              <a:rPr lang="en-US" dirty="0"/>
            </a:br>
            <a:r>
              <a:rPr lang="en-US" dirty="0"/>
              <a:t>Power BI Service does not support true parallel dashboard editing, which made simultaneous collaboration among team members difficult.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Frequent Version Updates</a:t>
            </a:r>
            <a:br>
              <a:rPr lang="en-US" dirty="0"/>
            </a:br>
            <a:r>
              <a:rPr lang="en-US" dirty="0"/>
              <a:t>Every modification required publishing the report and pulling the latest version from the cloud, which slowed down the workflow and increased the risk of version conflicts.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Preprocessing Error</a:t>
            </a:r>
            <a:br>
              <a:rPr lang="en-US" dirty="0"/>
            </a:br>
            <a:r>
              <a:rPr lang="en-US" dirty="0"/>
              <a:t>During data preprocessing, a column was accidentally deleted and went unnoticed initially. The issue was identified only after further progress in analysis, which affected data consistency and visualizations.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74FA6-E5BF-9301-9AAC-1B28BA7CA0A2}"/>
              </a:ext>
            </a:extLst>
          </p:cNvPr>
          <p:cNvSpPr txBox="1"/>
          <p:nvPr/>
        </p:nvSpPr>
        <p:spPr>
          <a:xfrm>
            <a:off x="5865114" y="1260920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Resolution &amp; Learnings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Adoption of Sequential Editing Workflow</a:t>
            </a:r>
            <a:br>
              <a:rPr lang="en-US" dirty="0"/>
            </a:br>
            <a:r>
              <a:rPr lang="en-US" dirty="0"/>
              <a:t>A sequential editing workflow was adopted for Power BI dashboards to avoid conflicts and ensure controlled updates.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Clear Responsibility Assignment</a:t>
            </a:r>
            <a:br>
              <a:rPr lang="en-US" dirty="0"/>
            </a:br>
            <a:r>
              <a:rPr lang="en-US" dirty="0"/>
              <a:t>Specific responsibility for report updates was assigned to team members to manage changes effectively and prevent overlap.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Recovery and Validation</a:t>
            </a:r>
            <a:br>
              <a:rPr lang="en-US" dirty="0"/>
            </a:br>
            <a:r>
              <a:rPr lang="en-US" dirty="0"/>
              <a:t>The deleted column was recovered by copying and matching it from the original dataset. After recovery, all preprocessing steps, relationships, and visuals were revalidated.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Improved Validation Practices</a:t>
            </a:r>
            <a:br>
              <a:rPr lang="en-US" dirty="0"/>
            </a:br>
            <a:r>
              <a:rPr lang="en-US" dirty="0"/>
              <a:t>The experience reinforced the importance of performing validation checks during data preprocessing in Power BI to maintain data accuracy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445163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0975-B602-E3D7-61EF-75A86AA167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488" y="315965"/>
            <a:ext cx="10515600" cy="1325562"/>
          </a:xfrm>
        </p:spPr>
        <p:txBody>
          <a:bodyPr/>
          <a:lstStyle/>
          <a:p>
            <a:r>
              <a:rPr lang="en-IN" b="1" dirty="0"/>
              <a:t>Learnings and Skills Used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39ADE20-18B9-2F61-3DA5-B764AA492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" y="1618846"/>
            <a:ext cx="6191730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skills developed: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BI: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for end-to-end Business Intelligence—from data ingestion to publishing interactive 7-page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Query: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Performed ETL (Extract, Transform, Load) to clean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Science &amp; Visualization Skills: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Modeling: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Established relationships between different data categories to ensure seamless filtering across all 7 dashboard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DAX (Data Analysis Expressions):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Created custom measures for "Average Rating," "Total Orders," and "Customer Sentiment Scores."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Visualizations: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Implemented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Slicers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City/Gender),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Decomposition Trees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(to find influence factors),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Ribbon Charts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trend analysis over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Reporting: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Configured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Cross-filtering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Sync Slicers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 that a selection on the "Customer Profile" page reflects on the "Cuisine Performance"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4A123-493D-7029-4AD2-1882F8E99E7B}"/>
              </a:ext>
            </a:extLst>
          </p:cNvPr>
          <p:cNvSpPr txBox="1"/>
          <p:nvPr/>
        </p:nvSpPr>
        <p:spPr>
          <a:xfrm>
            <a:off x="6507960" y="1669317"/>
            <a:ext cx="541096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Soft Skills Developed:</a:t>
            </a:r>
          </a:p>
          <a:p>
            <a:pPr>
              <a:buNone/>
            </a:pPr>
            <a:r>
              <a:rPr lang="en-US" sz="1600" b="1" dirty="0"/>
              <a:t>Analytical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Interpreted dashboard outputs to derive meaningful insights</a:t>
            </a:r>
          </a:p>
          <a:p>
            <a:pPr>
              <a:buNone/>
            </a:pPr>
            <a:r>
              <a:rPr lang="en-US" sz="1600" b="1" dirty="0"/>
              <a:t>Detail Orientation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Maintained accuracy during data cleaning and validation stages</a:t>
            </a:r>
          </a:p>
          <a:p>
            <a:pPr>
              <a:buNone/>
            </a:pPr>
            <a:r>
              <a:rPr lang="en-US" sz="1600" b="1" dirty="0"/>
              <a:t>Structured Problem Solving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Converted business questions into measurable analytical metrics</a:t>
            </a:r>
          </a:p>
          <a:p>
            <a:pPr>
              <a:buNone/>
            </a:pPr>
            <a:r>
              <a:rPr lang="en-US" sz="1600" b="1" dirty="0"/>
              <a:t>Clear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Organized dashboards for intuitive interpretation and user understanding</a:t>
            </a:r>
          </a:p>
          <a:p>
            <a:pPr>
              <a:buNone/>
            </a:pPr>
            <a:r>
              <a:rPr lang="en-US" sz="1600" b="1" dirty="0"/>
              <a:t>Continuous Refinement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Improved dashboard design based on feedback and iterative analysis</a:t>
            </a:r>
          </a:p>
        </p:txBody>
      </p:sp>
    </p:spTree>
    <p:extLst>
      <p:ext uri="{BB962C8B-B14F-4D97-AF65-F5344CB8AC3E}">
        <p14:creationId xmlns:p14="http://schemas.microsoft.com/office/powerpoint/2010/main" val="110146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24F-A558-6046-DAD6-724D3795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Insights and Future Enhancement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B65A-120D-1A2C-F8C5-B99ED839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Key Insights:</a:t>
            </a:r>
            <a:endParaRPr lang="en-US" dirty="0"/>
          </a:p>
          <a:p>
            <a:pPr lvl="1"/>
            <a:r>
              <a:rPr lang="en-US" b="1" dirty="0"/>
              <a:t>Student Influence:</a:t>
            </a:r>
            <a:r>
              <a:rPr lang="en-US" dirty="0"/>
              <a:t> A large portion of the dataset consists of students with "No Income," yet they frequently order "Veg" and "Snacks."</a:t>
            </a:r>
          </a:p>
          <a:p>
            <a:pPr lvl="1"/>
            <a:r>
              <a:rPr lang="en-US" b="1" dirty="0"/>
              <a:t>Trust Factor:</a:t>
            </a:r>
            <a:r>
              <a:rPr lang="en-US" dirty="0"/>
              <a:t> Google Maps accuracy and "Good Tracking Systems" are rated as "Important" by over 70% of respondents.</a:t>
            </a:r>
          </a:p>
          <a:p>
            <a:pPr lvl="1"/>
            <a:r>
              <a:rPr lang="en-US" b="1" dirty="0"/>
              <a:t>Health Trend:</a:t>
            </a:r>
            <a:r>
              <a:rPr lang="en-US" dirty="0"/>
              <a:t> There is a strong correlation between "Strongly Agree" on Health Concern and "Veg" food preferences.</a:t>
            </a:r>
          </a:p>
          <a:p>
            <a:pPr lvl="1"/>
            <a:r>
              <a:rPr lang="en-US" b="1" dirty="0"/>
              <a:t>Affordability Impact:</a:t>
            </a:r>
            <a:r>
              <a:rPr lang="en-US" dirty="0"/>
              <a:t> Price sensitivity significantly influences ordering behavior, especially among students and low-income groups.</a:t>
            </a:r>
          </a:p>
          <a:p>
            <a:r>
              <a:rPr lang="en-US" b="1" dirty="0"/>
              <a:t>Future Enhancement:</a:t>
            </a:r>
            <a:endParaRPr lang="en-US" dirty="0"/>
          </a:p>
          <a:p>
            <a:pPr lvl="1"/>
            <a:r>
              <a:rPr lang="en-US" b="1" dirty="0"/>
              <a:t>Machine Learning Integration:</a:t>
            </a:r>
            <a:r>
              <a:rPr lang="en-US" dirty="0"/>
              <a:t> Building a recommendation engine based on past ratings.</a:t>
            </a:r>
          </a:p>
          <a:p>
            <a:pPr lvl="1"/>
            <a:r>
              <a:rPr lang="en-US" b="1" dirty="0"/>
              <a:t>Real-time Analysis:</a:t>
            </a:r>
            <a:r>
              <a:rPr lang="en-US" dirty="0"/>
              <a:t> Integrating API data from live food delivery apps to study peak-hour trends.</a:t>
            </a:r>
          </a:p>
          <a:p>
            <a:pPr lvl="1"/>
            <a:r>
              <a:rPr lang="en-US" b="1" dirty="0"/>
              <a:t>Predictive Demand Forecasting:</a:t>
            </a:r>
            <a:r>
              <a:rPr lang="en-US" dirty="0"/>
              <a:t> Use historical ordering data to forecast peak demand periods and optimize resource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91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3914-6650-7477-C8E2-E2803B26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29AD0-AC76-BEE9-ADC8-9D8E24E4C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comprehensive analysis reveals that the F&amp;B industry has shifted from a </a:t>
            </a:r>
            <a:r>
              <a:rPr lang="en-US" b="1" dirty="0"/>
              <a:t>Product-centric</a:t>
            </a:r>
            <a:r>
              <a:rPr lang="en-US" dirty="0"/>
              <a:t> model to a </a:t>
            </a:r>
            <a:r>
              <a:rPr lang="en-US" b="1" dirty="0"/>
              <a:t>Trust-centric</a:t>
            </a:r>
            <a:r>
              <a:rPr lang="en-US" dirty="0"/>
              <a:t> model. Through our 7-page Power BI dashboard, we proved that while 'Taste' gets the first order, 'Transparency'—in the form of tracking accuracy and delivery speed—earns the second.</a:t>
            </a:r>
          </a:p>
          <a:p>
            <a:r>
              <a:rPr lang="en-US" dirty="0"/>
              <a:t>By identifying the high-volume student demographic and the surprising strength of direct-call ordering, we have provided a roadmap for brands to optimize their digital presence. Ultimately, success in today's market requires a balance of health-conscious options and seamless operational execution."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16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0FD95-DE96-8825-CDDC-4F430021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2" y="756236"/>
            <a:ext cx="4961342" cy="114551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Acknowledgement: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7DC38A9-B334-9165-4DA1-61DFC8448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42" y="1621002"/>
            <a:ext cx="905737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would like to express our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heartfelt gratitude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Infosys Springboard Team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organizing this valuable internship opportunity and providing a strong learning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sincerely thank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Mentor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her continuous support, guidance, and constructive feedback throughout the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also grateful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teammates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their collaboration, encouragement, and valuable insights during the project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internship has been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step in our professional growth and technical journey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helping us strengthen our skills in data analysis and visualization.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4F2B9-7EFC-426D-1740-F1FC1D3CD195}"/>
              </a:ext>
            </a:extLst>
          </p:cNvPr>
          <p:cNvSpPr txBox="1"/>
          <p:nvPr/>
        </p:nvSpPr>
        <p:spPr>
          <a:xfrm>
            <a:off x="625642" y="4498334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Microsoft Power BI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Infosys Springboard Virtual Internship course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Dataset: order final.xlsx (from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9211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35A161-4E6F-071F-DC66-8C43E759E134}"/>
              </a:ext>
            </a:extLst>
          </p:cNvPr>
          <p:cNvSpPr txBox="1"/>
          <p:nvPr/>
        </p:nvSpPr>
        <p:spPr>
          <a:xfrm>
            <a:off x="3288631" y="254249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80017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232</TotalTime>
  <Words>948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Century Gothic</vt:lpstr>
      <vt:lpstr>Courier New</vt:lpstr>
      <vt:lpstr>Garamond</vt:lpstr>
      <vt:lpstr>Poppins</vt:lpstr>
      <vt:lpstr>The Seasons</vt:lpstr>
      <vt:lpstr>Savon</vt:lpstr>
      <vt:lpstr>Infosys Springboard Virtual Internship</vt:lpstr>
      <vt:lpstr> Objective </vt:lpstr>
      <vt:lpstr>PowerPoint Presentation</vt:lpstr>
      <vt:lpstr>PowerPoint Presentation</vt:lpstr>
      <vt:lpstr>PowerPoint Presentation</vt:lpstr>
      <vt:lpstr>Challenges Faced and Resolution</vt:lpstr>
      <vt:lpstr>Learnings and Skills Used</vt:lpstr>
      <vt:lpstr>Key Insights and Future Enhancement</vt:lpstr>
      <vt:lpstr>Conclusion</vt:lpstr>
      <vt:lpstr>Acknowledgement: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lekhana sr</dc:creator>
  <cp:lastModifiedBy>L.J.Jai Akash</cp:lastModifiedBy>
  <cp:revision>8</cp:revision>
  <dcterms:created xsi:type="dcterms:W3CDTF">2026-02-06T13:08:20Z</dcterms:created>
  <dcterms:modified xsi:type="dcterms:W3CDTF">2026-02-18T10:54:35Z</dcterms:modified>
</cp:coreProperties>
</file>