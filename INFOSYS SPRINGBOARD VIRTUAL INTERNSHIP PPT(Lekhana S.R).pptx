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grandir Wide Bold" charset="1" panose="00000805000000000000"/>
      <p:regular r:id="rId15"/>
    </p:embeddedFont>
    <p:embeddedFont>
      <p:font typeface="The Seasons" charset="1" panose="00000000000000000000"/>
      <p:regular r:id="rId16"/>
    </p:embeddedFont>
    <p:embeddedFont>
      <p:font typeface="The Seasons Bold" charset="1" panose="00000000000000000000"/>
      <p:regular r:id="rId17"/>
    </p:embeddedFont>
    <p:embeddedFont>
      <p:font typeface="Open Sans Bold" charset="1" panose="00000000000000000000"/>
      <p:regular r:id="rId18"/>
    </p:embeddedFont>
    <p:embeddedFont>
      <p:font typeface="Open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58322" y="7451742"/>
            <a:ext cx="4419714" cy="3613116"/>
          </a:xfrm>
          <a:custGeom>
            <a:avLst/>
            <a:gdLst/>
            <a:ahLst/>
            <a:cxnLst/>
            <a:rect r="r" b="b" t="t" l="l"/>
            <a:pathLst>
              <a:path h="3613116" w="4419714">
                <a:moveTo>
                  <a:pt x="0" y="0"/>
                </a:moveTo>
                <a:lnTo>
                  <a:pt x="4419715" y="0"/>
                </a:lnTo>
                <a:lnTo>
                  <a:pt x="4419715" y="3613116"/>
                </a:lnTo>
                <a:lnTo>
                  <a:pt x="0" y="3613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806227"/>
            <a:ext cx="16506683" cy="272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30"/>
              </a:lnSpc>
              <a:spcBef>
                <a:spcPct val="0"/>
              </a:spcBef>
            </a:pPr>
            <a:r>
              <a:rPr lang="en-US" b="true" sz="6099" spc="335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Infosys springboard Vritual Internship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5941" y="3098322"/>
            <a:ext cx="16457940" cy="502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8"/>
              </a:lnSpc>
              <a:spcBef>
                <a:spcPct val="0"/>
              </a:spcBef>
            </a:pPr>
          </a:p>
          <a:p>
            <a:pPr algn="l">
              <a:lnSpc>
                <a:spcPts val="6668"/>
              </a:lnSpc>
              <a:spcBef>
                <a:spcPct val="0"/>
              </a:spcBef>
            </a:pPr>
            <a:r>
              <a:rPr lang="en-US" sz="3899" spc="214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</a:t>
            </a:r>
            <a:r>
              <a:rPr lang="en-US" b="true" sz="3899" spc="214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Project Name: </a:t>
            </a:r>
            <a:r>
              <a:rPr lang="en-US" sz="3899" spc="214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FoodTrends: Understanding Customer Preferences in F&amp;B</a:t>
            </a:r>
          </a:p>
          <a:p>
            <a:pPr algn="l">
              <a:lnSpc>
                <a:spcPts val="6668"/>
              </a:lnSpc>
              <a:spcBef>
                <a:spcPct val="0"/>
              </a:spcBef>
            </a:pPr>
            <a:r>
              <a:rPr lang="en-US" sz="3899" spc="214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</a:t>
            </a:r>
            <a:r>
              <a:rPr lang="en-US" b="true" sz="3899" spc="214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Group ID: </a:t>
            </a:r>
            <a:r>
              <a:rPr lang="en-US" sz="3899" spc="214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Group 1, Batch-11</a:t>
            </a:r>
          </a:p>
          <a:p>
            <a:pPr algn="l">
              <a:lnSpc>
                <a:spcPts val="6668"/>
              </a:lnSpc>
              <a:spcBef>
                <a:spcPct val="0"/>
              </a:spcBef>
            </a:pPr>
            <a:r>
              <a:rPr lang="en-US" b="true" sz="3899" spc="214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•Team Members</a:t>
            </a:r>
            <a:r>
              <a:rPr lang="en-US" sz="3899" spc="214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: Lekhana S.R</a:t>
            </a:r>
          </a:p>
          <a:p>
            <a:pPr algn="l">
              <a:lnSpc>
                <a:spcPts val="6668"/>
              </a:lnSpc>
              <a:spcBef>
                <a:spcPct val="0"/>
              </a:spcBef>
            </a:pPr>
            <a:r>
              <a:rPr lang="en-US" sz="3899" spc="214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                               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032555" y="5726652"/>
            <a:ext cx="5474128" cy="4429067"/>
          </a:xfrm>
          <a:custGeom>
            <a:avLst/>
            <a:gdLst/>
            <a:ahLst/>
            <a:cxnLst/>
            <a:rect r="r" b="b" t="t" l="l"/>
            <a:pathLst>
              <a:path h="4429067" w="5474128">
                <a:moveTo>
                  <a:pt x="0" y="0"/>
                </a:moveTo>
                <a:lnTo>
                  <a:pt x="5474128" y="0"/>
                </a:lnTo>
                <a:lnTo>
                  <a:pt x="5474128" y="4429067"/>
                </a:lnTo>
                <a:lnTo>
                  <a:pt x="0" y="44290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99020" y="647700"/>
            <a:ext cx="7549991" cy="1142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0"/>
              </a:lnSpc>
              <a:spcBef>
                <a:spcPct val="0"/>
              </a:spcBef>
            </a:pPr>
            <a:r>
              <a:rPr lang="en-US" b="true" sz="5000" spc="275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Title and 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1640" y="2290143"/>
            <a:ext cx="16791704" cy="682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3099" spc="170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Project Title:</a:t>
            </a:r>
            <a:r>
              <a:rPr lang="en-US" sz="3099" spc="170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FoodTrends: Understanding Customer Preferences in F&amp;B</a:t>
            </a:r>
          </a:p>
          <a:p>
            <a:pPr algn="l">
              <a:lnSpc>
                <a:spcPts val="5300"/>
              </a:lnSpc>
            </a:pPr>
          </a:p>
          <a:p>
            <a:pPr algn="l">
              <a:lnSpc>
                <a:spcPts val="5300"/>
              </a:lnSpc>
              <a:spcBef>
                <a:spcPct val="0"/>
              </a:spcBef>
            </a:pPr>
            <a:r>
              <a:rPr lang="en-US" b="true" sz="3099" spc="17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Objective: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•Decode Customer Personas: To transform demographic data (Age, Income, Occupation) into "Customer Profile Intelligence" that identifies who the high-value diners are.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•Analyze Ordering Ecosystems: To map "Ordering Patterns &amp; Platform Behavior," determining whether customers prefer direct interaction or digital delivery apps.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•Evaluate Service Excellence: To measure "Delivery Experience &amp; Quality" by correlating wait times and food freshness with overall customer satisfaction ratings.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•Identify Market Drivers: To uncover "Cuisine Performance &amp; Influence Factors" (like discounts and health concerns) to help restaurants optimize their menus and promotions.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132" y="-112395"/>
            <a:ext cx="15504693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9"/>
              </a:lnSpc>
              <a:spcBef>
                <a:spcPct val="0"/>
              </a:spcBef>
            </a:pPr>
            <a:r>
              <a:rPr lang="en-US" b="true" sz="4999" spc="274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Execution &amp; Milestone Reviews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0751" y="1033843"/>
            <a:ext cx="17907249" cy="922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0"/>
              </a:lnSpc>
              <a:spcBef>
                <a:spcPct val="0"/>
              </a:spcBef>
            </a:pPr>
            <a:r>
              <a:rPr lang="en-US" b="true" sz="3099" spc="170">
                <a:solidFill>
                  <a:srgbClr val="30387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Dataset Source:</a:t>
            </a:r>
            <a:r>
              <a:rPr lang="en-US" sz="3099" spc="17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 The dataset (order final.xlsx) contains 388 records of customer orders with 35 features including Age, Gender, Monthly Income, Rating, and Food Preferences.</a:t>
            </a:r>
          </a:p>
          <a:p>
            <a:pPr algn="l">
              <a:lnSpc>
                <a:spcPts val="5300"/>
              </a:lnSpc>
              <a:spcBef>
                <a:spcPct val="0"/>
              </a:spcBef>
            </a:pPr>
            <a:r>
              <a:rPr lang="en-US" b="true" sz="3099" spc="170">
                <a:solidFill>
                  <a:srgbClr val="30387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Milestone Breakdown: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Milestone 1: Dataset Review &amp; Initial Analysis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Inspected the data for null values and data types.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Identified key variables: Customer demographics and behavioral attributes.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Milestone 2: Data Cleaning &amp; Basic Visualization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Handled categorical data conversion.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Analyzed gender distribution and age groups using histograms.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Milestone 3: Advanced Analysis 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Explored correlations between Monthly Income and Order Amount.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Studied the "Influence of Ratings" and "Health Concern" on final order decisions.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Milestone 4: Final Reporting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Synthesized conclusions based on wait times and affordability.</a:t>
            </a:r>
          </a:p>
          <a:p>
            <a:pPr algn="l" marL="604519" indent="-302260" lvl="1">
              <a:lnSpc>
                <a:spcPts val="4787"/>
              </a:lnSpc>
              <a:buFont typeface="Arial"/>
              <a:buChar char="•"/>
            </a:pPr>
            <a:r>
              <a:rPr lang="en-US" sz="2799" spc="153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Finalized the predictive insights for F&amp;B vendors.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85887"/>
            <a:ext cx="1470617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b="true" sz="4999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CHALLENGES FACED AND RESOLUTION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4350" y="2607310"/>
            <a:ext cx="16168243" cy="497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•Challenge 1: Data Categorization: Many columns like "Monthly Income" and "Maximum wait time" were categorical strings.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•Resolution: Used data mapping and encoding to convert them into usable formats for analysis.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•Challenge 2: Multi-variate Analysis: Difficulty in seeing how 'Health Concern' and 'Affordability' act together.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•Resolution: Created heatmaps and pivot tables to visualize overlapping preferences.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•Challenge 3: Outliers in Order Amounts: Some order values were significantly higher than average.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•Resolution: Used box plots to identify and validate these entries against the "Family Size" column.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88326" y="795567"/>
            <a:ext cx="801909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3038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Learnings and Skills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53632"/>
            <a:ext cx="15121720" cy="650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 BI:</a:t>
            </a: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Used for end-to-end Business Intelligence—from data ingestion to publishing interactive 7-page reports.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Power Query: Performed ETL (Extract, Transform, Load) to clean the Dataset.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Science &amp; Visualization Skills: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Modeling: Established relationships between different data categories to ensure seamless filtering across all 7 dashboard pages.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DAX (Data Analysis Expressions): Created custom measures for "Average Rating," "Total Orders," and "Customer Sentiment Scores."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Advanced Visualizations: Implemented Slicers (for City/Gender), Decomposition Trees (to find influence factors), and Ribbon Charts (for trend analysis over time).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Interactive Reporting: Configured Cross-filtering and Sync Slicers so that a selection on the "Customer Profile" page reflects on the "Cuisine Performance" page.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22342" y="554037"/>
            <a:ext cx="12031385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3038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Insights and Future Enhancement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5107" y="2407285"/>
            <a:ext cx="14965855" cy="650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3038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Insights: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Student Influence: A large portion of the dataset consists of students with "No Income," yet they frequently order "Veg" and "Snacks."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Trust Factor: Google Maps accuracy and "Good Tracking Systems" are rated as "Important" by over 70% of respondents.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Health Trend: There is a strong correlation between "Strongly Agree" on Health Concern and "Veg" food preferences.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3038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Enhancement: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Machine Learning Integration: Building a recommendation engine based on past ratings.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Real-time Analysis: Integrating API data from live food delivery apps to study peak-hour trends.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36825" y="740774"/>
            <a:ext cx="889193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4999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CONCLUSION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01251" y="1028700"/>
            <a:ext cx="5833569" cy="8229600"/>
            <a:chOff x="0" y="0"/>
            <a:chExt cx="903772" cy="1274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3772" cy="1274980"/>
            </a:xfrm>
            <a:custGeom>
              <a:avLst/>
              <a:gdLst/>
              <a:ahLst/>
              <a:cxnLst/>
              <a:rect r="r" b="b" t="t" l="l"/>
              <a:pathLst>
                <a:path h="1274980" w="903772">
                  <a:moveTo>
                    <a:pt x="0" y="0"/>
                  </a:moveTo>
                  <a:lnTo>
                    <a:pt x="903772" y="0"/>
                  </a:lnTo>
                  <a:lnTo>
                    <a:pt x="903772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55871" t="0" r="-5587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2575" y="2506857"/>
            <a:ext cx="10000434" cy="603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4399"/>
              </a:lnSpc>
              <a:buFont typeface="Arial"/>
              <a:buChar char="•"/>
            </a:pPr>
            <a:r>
              <a:rPr lang="en-US" sz="24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Our comprehensive analysis reveals that the F&amp;B industry has shifted from a Product-centric model to a Trust-centric model. Through our 7-page Power BI dashboard, we proved that while 'Taste' gets the first order, 'Transparency'—in the form of tracking accuracy and delivery speed—earns the second.</a:t>
            </a:r>
          </a:p>
          <a:p>
            <a:pPr algn="l">
              <a:lnSpc>
                <a:spcPts val="4399"/>
              </a:lnSpc>
            </a:pPr>
          </a:p>
          <a:p>
            <a:pPr algn="l" marL="539748" indent="-269874" lvl="1">
              <a:lnSpc>
                <a:spcPts val="4399"/>
              </a:lnSpc>
              <a:buFont typeface="Arial"/>
              <a:buChar char="•"/>
            </a:pPr>
            <a:r>
              <a:rPr lang="en-US" sz="24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By identifying the high-volume student demographic and the surprising strength of direct-call ordering, we have provided a roadmap for brands to optimize their digital presence. Ultimately, success in today's market requires a balance of health-conscious options and seamless operational execution."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0360" y="628650"/>
            <a:ext cx="12939594" cy="115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  <a:spcBef>
                <a:spcPct val="0"/>
              </a:spcBef>
            </a:pPr>
            <a:r>
              <a:rPr lang="en-US" b="true" sz="4999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Acknowledgement and 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5431" y="1909163"/>
            <a:ext cx="15242501" cy="621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•We would like to express our heartfelt gratitude to:</a:t>
            </a:r>
          </a:p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•Infosys Springboard Team– for organizing this valuable internship opportunity.</a:t>
            </a:r>
          </a:p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•Our Mentor– for her continuous support and feedback.</a:t>
            </a:r>
          </a:p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•My Teammates – for collaboration, encouragement, and insights </a:t>
            </a:r>
          </a:p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 This internship has been a significant step in our professional growth and technical journey.</a:t>
            </a:r>
          </a:p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5455"/>
              </a:lnSpc>
              <a:spcBef>
                <a:spcPct val="0"/>
              </a:spcBef>
            </a:pPr>
            <a:r>
              <a:rPr lang="en-US" sz="30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3099">
                <a:solidFill>
                  <a:srgbClr val="3038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References:</a:t>
            </a:r>
          </a:p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•Microsoft Power BI Documentation</a:t>
            </a:r>
          </a:p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•Infosys Springboard Virtual Internship course materials</a:t>
            </a:r>
          </a:p>
          <a:p>
            <a:pPr algn="l">
              <a:lnSpc>
                <a:spcPts val="4927"/>
              </a:lnSpc>
              <a:spcBef>
                <a:spcPct val="0"/>
              </a:spcBef>
            </a:pPr>
            <a:r>
              <a:rPr lang="en-US" sz="2799">
                <a:solidFill>
                  <a:srgbClr val="303870"/>
                </a:solidFill>
                <a:latin typeface="Open Sans"/>
                <a:ea typeface="Open Sans"/>
                <a:cs typeface="Open Sans"/>
                <a:sym typeface="Open Sans"/>
              </a:rPr>
              <a:t>•Dataset: order final.xlsx (from kaggle)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534337"/>
            <a:ext cx="10208996" cy="181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DAHA1FDL2T8</dc:identifier>
  <dcterms:modified xsi:type="dcterms:W3CDTF">2011-08-01T06:04:30Z</dcterms:modified>
  <cp:revision>1</cp:revision>
  <dc:title>Blue and Beige Simple Project Proposal Presentation</dc:title>
</cp:coreProperties>
</file>