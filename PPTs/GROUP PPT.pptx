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9" r:id="rId5"/>
    <p:sldId id="270" r:id="rId6"/>
    <p:sldId id="266" r:id="rId7"/>
    <p:sldId id="267" r:id="rId8"/>
    <p:sldId id="268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40671E-8504-42E4-A23B-C0FC6DC1D6E8}" v="8" dt="2026-02-14T15:11:35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953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0374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5904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50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71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688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39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9990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5541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812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834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3AFE63E-E929-4A31-ACF6-EE2FF58D8A40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0DEFF40-9CEE-4EDF-B673-AC9E334063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69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B65CD-EB0B-C556-DBF8-FA57832FA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6000" b="1" dirty="0"/>
              <a:t>Infosys Springboard Virtual Internship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8000-4A0B-8978-3EDF-9844C544F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514600"/>
            <a:ext cx="10058400" cy="393192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Team Details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Project Name:</a:t>
            </a:r>
            <a:r>
              <a:rPr lang="en-IN" dirty="0"/>
              <a:t> </a:t>
            </a:r>
            <a:r>
              <a:rPr lang="en-IN" dirty="0" err="1"/>
              <a:t>FoodTrends</a:t>
            </a:r>
            <a:r>
              <a:rPr lang="en-IN" dirty="0"/>
              <a:t>: Understanding Customer Preferences in F&amp;B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b="1" dirty="0"/>
              <a:t>Group ID:</a:t>
            </a:r>
            <a:r>
              <a:rPr lang="en-IN" dirty="0"/>
              <a:t> Team A, Group 1, Batch-11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IN" b="1" dirty="0"/>
              <a:t>Team Members:</a:t>
            </a:r>
            <a:r>
              <a:rPr lang="en-IN" dirty="0"/>
              <a:t> Lekhana S.R</a:t>
            </a:r>
          </a:p>
          <a:p>
            <a:pPr marL="0" indent="0" algn="just">
              <a:buNone/>
            </a:pPr>
            <a:r>
              <a:rPr lang="en-IN" dirty="0"/>
              <a:t>                               Harshini Ganesan</a:t>
            </a:r>
          </a:p>
          <a:p>
            <a:pPr marL="0" indent="0" algn="just">
              <a:buNone/>
            </a:pPr>
            <a:r>
              <a:rPr lang="en-IN" dirty="0"/>
              <a:t>                               Jai Akash L J</a:t>
            </a:r>
          </a:p>
          <a:p>
            <a:pPr marL="0" indent="0" algn="just">
              <a:buNone/>
            </a:pPr>
            <a:r>
              <a:rPr lang="en-IN" dirty="0"/>
              <a:t>                               Abhinit Kumar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b="1" spc="214" dirty="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Mentor</a:t>
            </a:r>
            <a:r>
              <a:rPr lang="en-US" spc="214" dirty="0">
                <a:solidFill>
                  <a:srgbClr val="000000"/>
                </a:solidFill>
                <a:latin typeface="The Seasons"/>
                <a:ea typeface="The Seasons"/>
                <a:cs typeface="The Seasons"/>
                <a:sym typeface="The Seasons"/>
              </a:rPr>
              <a:t>: Ms. Nityasree</a:t>
            </a:r>
          </a:p>
          <a:p>
            <a:pPr marL="0" indent="0" algn="just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34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7838-76A5-25AF-FEA2-2EC1A64A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570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 Objective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ADFBB-B745-CF8A-4EBB-3389FF636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400" b="1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Decode Customer Personas:</a:t>
            </a:r>
            <a:r>
              <a:rPr lang="en-US" altLang="en-US" sz="2400" dirty="0">
                <a:cs typeface="Poppins" panose="00000500000000000000" pitchFamily="2" charset="0"/>
              </a:rPr>
              <a:t> To transform demographic data (Age, Income, Occupation) into "Customer Profile Intelligence" that identifies who the high-value diners are.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Analyze Ordering Ecosystems:</a:t>
            </a:r>
            <a:r>
              <a:rPr lang="en-US" altLang="en-US" sz="2400" dirty="0">
                <a:cs typeface="Poppins" panose="00000500000000000000" pitchFamily="2" charset="0"/>
              </a:rPr>
              <a:t> To map "Ordering Patterns &amp; Platform Behavior," determining whether customers prefer direct interaction or digital delivery apps.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Evaluate Service Excellence:</a:t>
            </a:r>
            <a:r>
              <a:rPr lang="en-US" altLang="en-US" sz="2400" dirty="0">
                <a:cs typeface="Poppins" panose="00000500000000000000" pitchFamily="2" charset="0"/>
              </a:rPr>
              <a:t> To measure "Delivery Experience &amp; Quality" by correlating wait times and food freshness with overall customer satisfaction ratings.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cs typeface="Poppins" panose="00000500000000000000" pitchFamily="2" charset="0"/>
              </a:rPr>
              <a:t>Identify Market Drivers:</a:t>
            </a:r>
            <a:r>
              <a:rPr lang="en-US" altLang="en-US" sz="2400" dirty="0">
                <a:cs typeface="Poppins" panose="00000500000000000000" pitchFamily="2" charset="0"/>
              </a:rPr>
              <a:t> To uncover "Cuisine Performance &amp; Influence Factors" (like discounts and health concerns) to help restaurants optimize their menus and promotions.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35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76059-5EAB-589F-0130-3B633E65D66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794" y="190244"/>
            <a:ext cx="10058400" cy="1371600"/>
          </a:xfrm>
        </p:spPr>
        <p:txBody>
          <a:bodyPr/>
          <a:lstStyle/>
          <a:p>
            <a:r>
              <a:rPr lang="en-IN" b="1" dirty="0">
                <a:latin typeface="+mn-lt"/>
              </a:rPr>
              <a:t>Execution &amp; Milestone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B8894-2723-E3C0-B8F5-C4F7F173613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63794" y="1482418"/>
            <a:ext cx="10515600" cy="4684713"/>
          </a:xfrm>
        </p:spPr>
        <p:txBody>
          <a:bodyPr>
            <a:normAutofit fontScale="70000" lnSpcReduction="20000"/>
          </a:bodyPr>
          <a:lstStyle/>
          <a:p>
            <a:r>
              <a:rPr lang="en-US" sz="2600" b="1" dirty="0"/>
              <a:t>Dataset Source:</a:t>
            </a:r>
            <a:r>
              <a:rPr lang="en-US" sz="2600" dirty="0"/>
              <a:t> The dataset (order final.xlsx) contains 388 records of customer orders with 35 features including Age, Gender, Monthly Income, Rating, and Food Preferences.</a:t>
            </a:r>
          </a:p>
          <a:p>
            <a:r>
              <a:rPr lang="en-US" sz="2600" b="1" dirty="0"/>
              <a:t>Milestone Breakdown:</a:t>
            </a:r>
            <a:endParaRPr lang="en-US" sz="2600" dirty="0"/>
          </a:p>
          <a:p>
            <a:r>
              <a:rPr lang="en-US" sz="2600" b="1" dirty="0"/>
              <a:t>Milestone 1: Dataset Review &amp; Initial Analysis</a:t>
            </a:r>
            <a:endParaRPr lang="en-US" sz="2600" dirty="0"/>
          </a:p>
          <a:p>
            <a:pPr lvl="1"/>
            <a:r>
              <a:rPr lang="en-US" sz="2600" dirty="0"/>
              <a:t>Inspected the data for null values and data types.</a:t>
            </a:r>
          </a:p>
          <a:p>
            <a:pPr lvl="1"/>
            <a:r>
              <a:rPr lang="en-US" sz="2600" dirty="0"/>
              <a:t>Identified key variables: Customer demographics and behavioral attributes.</a:t>
            </a:r>
          </a:p>
          <a:p>
            <a:r>
              <a:rPr lang="en-US" sz="2600" b="1" dirty="0"/>
              <a:t>Milestone 2: Data Cleaning &amp; Basic Visualization</a:t>
            </a:r>
            <a:endParaRPr lang="en-US" sz="2600" dirty="0"/>
          </a:p>
          <a:p>
            <a:pPr lvl="1"/>
            <a:r>
              <a:rPr lang="en-US" sz="2600" dirty="0"/>
              <a:t>Handled categorical data conversion.</a:t>
            </a:r>
          </a:p>
          <a:p>
            <a:pPr lvl="1"/>
            <a:r>
              <a:rPr lang="en-US" sz="2600" dirty="0"/>
              <a:t>Analyzed gender distribution and age groups using histograms.</a:t>
            </a:r>
          </a:p>
          <a:p>
            <a:r>
              <a:rPr lang="en-US" sz="2600" b="1" dirty="0"/>
              <a:t>Milestone 3: Advanced Analysis </a:t>
            </a:r>
            <a:endParaRPr lang="en-US" sz="2600" dirty="0"/>
          </a:p>
          <a:p>
            <a:pPr lvl="1"/>
            <a:r>
              <a:rPr lang="en-US" sz="2600" dirty="0"/>
              <a:t>Explored correlations between Monthly Income and Order Amount.</a:t>
            </a:r>
          </a:p>
          <a:p>
            <a:pPr lvl="1"/>
            <a:r>
              <a:rPr lang="en-US" sz="2600" dirty="0"/>
              <a:t>Studied the "Influence of Ratings" and "Health Concern" on final order decisions.</a:t>
            </a:r>
          </a:p>
          <a:p>
            <a:r>
              <a:rPr lang="en-US" sz="2600" b="1" dirty="0"/>
              <a:t>Milestone 4: Final Reporting </a:t>
            </a:r>
            <a:endParaRPr lang="en-US" sz="2600" dirty="0"/>
          </a:p>
          <a:p>
            <a:pPr lvl="1"/>
            <a:r>
              <a:rPr lang="en-US" sz="2600" dirty="0"/>
              <a:t>Synthesized conclusions based on wait times and affordability.</a:t>
            </a:r>
          </a:p>
          <a:p>
            <a:pPr lvl="1"/>
            <a:r>
              <a:rPr lang="en-US" sz="2600" dirty="0"/>
              <a:t>Finalized the predictive insights for F&amp;B vendors.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225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D5AD27-366F-7536-435F-1CB2DB62BCFA}"/>
              </a:ext>
            </a:extLst>
          </p:cNvPr>
          <p:cNvSpPr txBox="1"/>
          <p:nvPr/>
        </p:nvSpPr>
        <p:spPr>
          <a:xfrm>
            <a:off x="397654" y="501554"/>
            <a:ext cx="99895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>
                <a:latin typeface="Arial Black" panose="020B0A04020102020204" pitchFamily="34" charset="0"/>
              </a:rPr>
              <a:t>Project milestones:</a:t>
            </a:r>
            <a:endParaRPr lang="en-US" sz="4000" b="1" dirty="0"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F7A18D-21E3-7623-0B30-084A19589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45" y="1965277"/>
            <a:ext cx="3310330" cy="2940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F7CF3B-6290-3173-CF75-73D925226B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795" y="1985483"/>
            <a:ext cx="3300566" cy="2920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21C2B4-D286-22E8-1067-803EBD49B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405" y="501554"/>
            <a:ext cx="3310330" cy="29274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ECC9DA-7794-9E88-D1A0-7614A047B7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3405" y="3579172"/>
            <a:ext cx="3349728" cy="292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0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A619AC-45FC-E304-EE2F-6185FDED9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4" r="1" b="15952"/>
          <a:stretch>
            <a:fillRect/>
          </a:stretch>
        </p:blipFill>
        <p:spPr>
          <a:xfrm>
            <a:off x="643470" y="643467"/>
            <a:ext cx="1090505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91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88904F-8C27-3F08-DAFB-663C5D1E1A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49" y="1160205"/>
            <a:ext cx="5481897" cy="5620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500A17-3FED-74C3-FF99-E19CE85AA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35" y="199104"/>
            <a:ext cx="5924459" cy="31244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420610-351A-0A5A-4C91-6A5D015AD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35" y="3429000"/>
            <a:ext cx="6037491" cy="32298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77FFD1-B78B-D4EE-2137-6BEFD00769E2}"/>
              </a:ext>
            </a:extLst>
          </p:cNvPr>
          <p:cNvSpPr txBox="1"/>
          <p:nvPr/>
        </p:nvSpPr>
        <p:spPr>
          <a:xfrm>
            <a:off x="639096" y="366252"/>
            <a:ext cx="53018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Dashboard Images </a:t>
            </a:r>
            <a:endParaRPr lang="en-IN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28266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C18F88-2D0E-C82B-2019-DE9E59C6D7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2" y="1238864"/>
            <a:ext cx="5378245" cy="5388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B9FEA1-BF1E-E501-1FA4-2C3E3352A3D3}"/>
              </a:ext>
            </a:extLst>
          </p:cNvPr>
          <p:cNvSpPr txBox="1"/>
          <p:nvPr/>
        </p:nvSpPr>
        <p:spPr>
          <a:xfrm>
            <a:off x="403122" y="356107"/>
            <a:ext cx="98747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Dashboard Images </a:t>
            </a:r>
            <a:endParaRPr lang="en-IN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75CB69-F426-10FF-B0AF-EFD9A21B0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0865" y="1283110"/>
            <a:ext cx="6056670" cy="529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9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CC5E12-2D9D-A742-4E37-E395AE0333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44" y="958647"/>
            <a:ext cx="5523995" cy="5707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5EA9B9-06AB-5ECB-864F-65ACCADC2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013" y="956189"/>
            <a:ext cx="5899354" cy="57076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F33D6-7ABA-8BD8-951E-25289A7DDC2C}"/>
              </a:ext>
            </a:extLst>
          </p:cNvPr>
          <p:cNvSpPr txBox="1"/>
          <p:nvPr/>
        </p:nvSpPr>
        <p:spPr>
          <a:xfrm>
            <a:off x="560440" y="186748"/>
            <a:ext cx="1039407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Dashboard Images </a:t>
            </a:r>
            <a:endParaRPr lang="en-IN" sz="4400" dirty="0"/>
          </a:p>
          <a:p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14368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D977-3F39-EBC2-ED99-F8E119CFA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0"/>
            <a:ext cx="10058400" cy="13716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+mn-lt"/>
              </a:rPr>
              <a:t>Challenges Faced and Resolution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EA535-8F8B-0DAE-CA65-224DC70162E5}"/>
              </a:ext>
            </a:extLst>
          </p:cNvPr>
          <p:cNvSpPr txBox="1"/>
          <p:nvPr/>
        </p:nvSpPr>
        <p:spPr>
          <a:xfrm>
            <a:off x="486918" y="1260920"/>
            <a:ext cx="505434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Challenges Faced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Limited Team Collaboration in Power BI</a:t>
            </a:r>
            <a:br>
              <a:rPr lang="en-US" dirty="0"/>
            </a:br>
            <a:r>
              <a:rPr lang="en-US" dirty="0"/>
              <a:t>Power BI Service does not support true parallel dashboard editing, which made simultaneous collaboration among team members difficult.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Frequent Version Updates</a:t>
            </a:r>
            <a:br>
              <a:rPr lang="en-US" dirty="0"/>
            </a:br>
            <a:r>
              <a:rPr lang="en-US" dirty="0"/>
              <a:t>Every modification required publishing the report and pulling the latest version from the cloud, which slowed down the workflow and increased the risk of version conflicts.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Preprocessing Error</a:t>
            </a:r>
            <a:br>
              <a:rPr lang="en-US" dirty="0"/>
            </a:br>
            <a:r>
              <a:rPr lang="en-US" dirty="0"/>
              <a:t>During data preprocessing, a column was accidentally deleted and went unnoticed initially. The issue was identified only after further progress in analysis, which affected data consistency and visualizations.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374FA6-E5BF-9301-9AAC-1B28BA7CA0A2}"/>
              </a:ext>
            </a:extLst>
          </p:cNvPr>
          <p:cNvSpPr txBox="1"/>
          <p:nvPr/>
        </p:nvSpPr>
        <p:spPr>
          <a:xfrm>
            <a:off x="5865114" y="1260920"/>
            <a:ext cx="60944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Resolution &amp; Learnings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Adoption of Sequential Editing Workflow</a:t>
            </a:r>
            <a:br>
              <a:rPr lang="en-US" dirty="0"/>
            </a:br>
            <a:r>
              <a:rPr lang="en-US" dirty="0"/>
              <a:t>A sequential editing workflow was adopted for Power BI dashboards to avoid conflicts and ensure controlled updates.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Clear Responsibility Assignment</a:t>
            </a:r>
            <a:br>
              <a:rPr lang="en-US" dirty="0"/>
            </a:br>
            <a:r>
              <a:rPr lang="en-US" dirty="0"/>
              <a:t>Specific responsibility for report updates was assigned to team members to manage changes effectively and prevent overlap.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Data Recovery and Validation</a:t>
            </a:r>
            <a:br>
              <a:rPr lang="en-US" dirty="0"/>
            </a:br>
            <a:r>
              <a:rPr lang="en-US" dirty="0"/>
              <a:t>The deleted column was recovered by copying and matching it from the original dataset. After recovery, all preprocessing steps, relationships, and visuals were revalidated.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Improved Validation Practices</a:t>
            </a:r>
            <a:br>
              <a:rPr lang="en-US" dirty="0"/>
            </a:br>
            <a:r>
              <a:rPr lang="en-US" dirty="0"/>
              <a:t>The experience reinforced the importance of performing validation checks during data preprocessing in Power BI to maintain data accuracy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2445163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0975-B602-E3D7-61EF-75A86AA1670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5488" y="315965"/>
            <a:ext cx="10515600" cy="1325562"/>
          </a:xfrm>
        </p:spPr>
        <p:txBody>
          <a:bodyPr/>
          <a:lstStyle/>
          <a:p>
            <a:r>
              <a:rPr lang="en-IN" b="1" dirty="0"/>
              <a:t>Learnings and Skills Used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39ADE20-18B9-2F61-3DA5-B764AA492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70" y="1641527"/>
            <a:ext cx="12071420" cy="433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BI: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for end-to-end Business Intelligence—from data ingestion to publishing interactive 7-page reports.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Power Query: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Performed ETL (Extract, Transform, Load) to clean the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Science &amp; Visualization Skills: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Modeling: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Established relationships between different data categories to ensure seamless filtering across all 7 dashboard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DAX (Data Analysis Expressions):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Created custom measures for "Average Rating," "Total Orders," and "Customer Sentiment Scores."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Advanced Visualizations: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Implemented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Slicers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City/Gender),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Decomposition Trees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(to find influence factors),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Ribbon Charts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(for trend analysis over time).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Reporting: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Configured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Cross-filtering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Sync Slicers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 that a selection on the "Customer Profile" page reflects on the "Cuisine Performance"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1469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724F-A558-6046-DAD6-724D37959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Key Insights and Future Enhancement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CB65A-120D-1A2C-F8C5-B99ED839F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/>
              <a:t>Key Insights:</a:t>
            </a:r>
            <a:endParaRPr lang="en-US"/>
          </a:p>
          <a:p>
            <a:pPr lvl="1"/>
            <a:r>
              <a:rPr lang="en-US" b="1"/>
              <a:t>Student Influence:</a:t>
            </a:r>
            <a:r>
              <a:rPr lang="en-US"/>
              <a:t> A large portion of the dataset consists of students with "No Income," yet they frequently order "Veg" and "Snacks."</a:t>
            </a:r>
          </a:p>
          <a:p>
            <a:pPr lvl="1"/>
            <a:r>
              <a:rPr lang="en-US" b="1"/>
              <a:t>Trust Factor:</a:t>
            </a:r>
            <a:r>
              <a:rPr lang="en-US"/>
              <a:t> Google Maps accuracy and "Good Tracking Systems" are rated as "Important" by over 70% of respondents.</a:t>
            </a:r>
          </a:p>
          <a:p>
            <a:pPr lvl="1"/>
            <a:r>
              <a:rPr lang="en-US" b="1"/>
              <a:t>Health Trend:</a:t>
            </a:r>
            <a:r>
              <a:rPr lang="en-US"/>
              <a:t> There is a strong correlation between "Strongly Agree" on Health Concern and "Veg" food preferences.</a:t>
            </a:r>
          </a:p>
          <a:p>
            <a:r>
              <a:rPr lang="en-US" b="1"/>
              <a:t>Future Enhancement:</a:t>
            </a:r>
            <a:endParaRPr lang="en-US"/>
          </a:p>
          <a:p>
            <a:pPr lvl="1"/>
            <a:r>
              <a:rPr lang="en-US" b="1"/>
              <a:t>Machine Learning Integration:</a:t>
            </a:r>
            <a:r>
              <a:rPr lang="en-US"/>
              <a:t> Building a recommendation engine based on past ratings.</a:t>
            </a:r>
          </a:p>
          <a:p>
            <a:pPr lvl="1"/>
            <a:r>
              <a:rPr lang="en-US" b="1"/>
              <a:t>Real-time Analysis:</a:t>
            </a:r>
            <a:r>
              <a:rPr lang="en-US"/>
              <a:t> Integrating API data from live food delivery apps to study peak-hour trends.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919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93914-6650-7477-C8E2-E2803B26A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29AD0-AC76-BEE9-ADC8-9D8E24E4C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comprehensive analysis reveals that the F&amp;B industry has shifted from a </a:t>
            </a:r>
            <a:r>
              <a:rPr lang="en-US" b="1" dirty="0"/>
              <a:t>Product-centric</a:t>
            </a:r>
            <a:r>
              <a:rPr lang="en-US" dirty="0"/>
              <a:t> model to a </a:t>
            </a:r>
            <a:r>
              <a:rPr lang="en-US" b="1" dirty="0"/>
              <a:t>Trust-centric</a:t>
            </a:r>
            <a:r>
              <a:rPr lang="en-US" dirty="0"/>
              <a:t> model. Through our 7-page Power BI dashboard, we proved that while 'Taste' gets the first order, 'Transparency'—in the form of tracking accuracy and delivery speed—earns the second.</a:t>
            </a:r>
          </a:p>
          <a:p>
            <a:r>
              <a:rPr lang="en-US" dirty="0"/>
              <a:t>By identifying the high-volume student demographic and the surprising strength of direct-call ordering, we have provided a roadmap for brands to optimize their digital presence. Ultimately, success in today's market requires a balance of health-conscious options and seamless operational execution."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3160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0FD95-DE96-8825-CDDC-4F4300217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2" y="756236"/>
            <a:ext cx="4961342" cy="1145514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+mn-lt"/>
              </a:rPr>
              <a:t>Acknowledgement: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7DC38A9-B334-9165-4DA1-61DFC8448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642" y="1621002"/>
            <a:ext cx="905737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would like to express our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heartfelt gratitude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Infosys Springboard Team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organizing this valuable internship opportunity and providing a strong learning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sincerely thank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Mentor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her continuous support, guidance, and constructive feedback throughout the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are also grateful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teammates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their collaboration, encouragement, and valuable insights during the project 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internship has been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step in our professional growth and technical journey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helping us strengthen our skills in data analysis and visualization.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34F2B9-7EFC-426D-1740-F1FC1D3CD195}"/>
              </a:ext>
            </a:extLst>
          </p:cNvPr>
          <p:cNvSpPr txBox="1"/>
          <p:nvPr/>
        </p:nvSpPr>
        <p:spPr>
          <a:xfrm>
            <a:off x="625642" y="4498334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References: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Microsoft Power BI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Infosys Springboard Virtual Internship course materials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Dataset: order final.xlsx (from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kaggle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79211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35A161-4E6F-071F-DC66-8C43E759E134}"/>
              </a:ext>
            </a:extLst>
          </p:cNvPr>
          <p:cNvSpPr txBox="1"/>
          <p:nvPr/>
        </p:nvSpPr>
        <p:spPr>
          <a:xfrm>
            <a:off x="3288631" y="2542491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800170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207</TotalTime>
  <Words>1005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Century Gothic</vt:lpstr>
      <vt:lpstr>Courier New</vt:lpstr>
      <vt:lpstr>Garamond</vt:lpstr>
      <vt:lpstr>Poppins</vt:lpstr>
      <vt:lpstr>The Seasons</vt:lpstr>
      <vt:lpstr>Savon</vt:lpstr>
      <vt:lpstr>Infosys Springboard Virtual Internship</vt:lpstr>
      <vt:lpstr> Objective </vt:lpstr>
      <vt:lpstr>Execution &amp; Milestone Reviews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Faced and Resolution</vt:lpstr>
      <vt:lpstr>Learnings and Skills Used</vt:lpstr>
      <vt:lpstr>Key Insights and Future Enhancement</vt:lpstr>
      <vt:lpstr>Conclusion</vt:lpstr>
      <vt:lpstr>Acknowledgement: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lekhana sr</dc:creator>
  <cp:lastModifiedBy>L.J.Jai Akash</cp:lastModifiedBy>
  <cp:revision>5</cp:revision>
  <dcterms:created xsi:type="dcterms:W3CDTF">2026-02-06T13:08:20Z</dcterms:created>
  <dcterms:modified xsi:type="dcterms:W3CDTF">2026-02-14T15:42:54Z</dcterms:modified>
</cp:coreProperties>
</file>